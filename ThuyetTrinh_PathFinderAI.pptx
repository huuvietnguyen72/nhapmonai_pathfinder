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0" y="-1097280"/>
            <a:ext cx="4572000" cy="4572000"/>
          </a:xfrm>
          <a:prstGeom prst="ellipse">
            <a:avLst/>
          </a:prstGeom>
          <a:solidFill>
            <a:srgbClr val="818CF8">
              <a:alpha val="18000"/>
            </a:srgbClr>
          </a:solidFill>
          <a:ln w="12700">
            <a:solidFill>
              <a:srgbClr val="818CF8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34D399">
              <a:alpha val="15000"/>
            </a:srgbClr>
          </a:solidFill>
          <a:ln w="12700">
            <a:solidFill>
              <a:srgbClr val="34D399">
                <a:alpha val="1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4592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64592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🗺️</a:t>
            </a:r>
            <a:endParaRPr lang="en-US" sz="7200" dirty="0"/>
          </a:p>
        </p:txBody>
      </p:sp>
      <p:sp>
        <p:nvSpPr>
          <p:cNvPr id="11" name="Shape 9"/>
          <p:cNvSpPr/>
          <p:nvPr/>
        </p:nvSpPr>
        <p:spPr>
          <a:xfrm>
            <a:off x="3931920" y="1691640"/>
            <a:ext cx="2926080" cy="347472"/>
          </a:xfrm>
          <a:prstGeom prst="roundRect">
            <a:avLst>
              <a:gd name="adj" fmla="val 39474"/>
            </a:avLst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1920" y="16916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 ·  Nhập Môn TTNT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2240280"/>
            <a:ext cx="7955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PathFinder AI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931920" y="324612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 Quan Hóa Thuật Toán Tìm Đường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931920" y="3730752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Bản Đồ Thực Hà Đông, Hà Nội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931920" y="4251960"/>
            <a:ext cx="7955280" cy="27432"/>
          </a:xfrm>
          <a:prstGeom prst="rect">
            <a:avLst/>
          </a:prstGeom>
          <a:solidFill>
            <a:srgbClr val="363780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3192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4ECDC4">
              <a:alpha val="18000"/>
            </a:srgbClr>
          </a:solidFill>
          <a:ln w="12700">
            <a:solidFill>
              <a:srgbClr val="4ECDC4">
                <a:alpha val="5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3192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2356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FF6B6B">
              <a:alpha val="18000"/>
            </a:srgbClr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2356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FFD166">
              <a:alpha val="18000"/>
            </a:srgbClr>
          </a:solidFill>
          <a:ln w="12700">
            <a:solidFill>
              <a:srgbClr val="FFD166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06D6A0">
              <a:alpha val="18000"/>
            </a:srgbClr>
          </a:solidFill>
          <a:ln w="12700">
            <a:solidFill>
              <a:srgbClr val="06D6A0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0" y="507492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viện Công nghệ Bưu chính Viễn thông (PTIT)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54406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Nội – 2025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Trình Bày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051560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111556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111556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15568" y="1051560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 đề tài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92240" y="1051560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47104" y="111556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111556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150608" y="1051560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hệ thống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1810512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FF6B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2064" y="18745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" y="18745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115568" y="1810512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BFS &amp; DFS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92240" y="1810512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7104" y="18745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47104" y="18745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150608" y="1810512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Dijkstra &amp; A*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2569464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2633472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63347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115568" y="2569464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&amp; Demo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92240" y="2569464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47104" y="2633472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47104" y="263347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150608" y="2569464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so sánh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57200" y="3328416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6B7AB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2064" y="3392424"/>
            <a:ext cx="493776" cy="493776"/>
          </a:xfrm>
          <a:prstGeom prst="roundRect">
            <a:avLst>
              <a:gd name="adj" fmla="val 9259"/>
            </a:avLst>
          </a:prstGeom>
          <a:solidFill>
            <a:srgbClr val="6B7AB8"/>
          </a:solidFill>
          <a:ln w="12700">
            <a:solidFill>
              <a:srgbClr val="6B7A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" y="339242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1115568" y="3328416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&amp; Kết luận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 Giới Thiệu Đề Tài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05840"/>
            <a:ext cx="1143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 tìm đường là bài toán nền tảng trong Trí tuệ Nhân tạo. PathFinder AI áp dụng 4 thuật toán trực tiếp lên bản đồ đường bộ thực của Hà Đông — không phải đồ thị lý thuyết.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🗺️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đồ thực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1 007 nút giao thông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2 644 cạnh đường bộ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Đông, Hà Nội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4612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⚡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324612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Đồng thời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612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song song 4 thuật toán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ảnh từng bước khám phá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📊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12648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12648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nút duyệt · Độ dài đường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thực thi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00684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0684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🎛️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900684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Tương tác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00684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chọn điểm · Điều chỉnh tốc độ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Ẩn/hiện từng thuật toán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 Kiến Trúc Hệ Thống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051560"/>
            <a:ext cx="3383280" cy="5394960"/>
          </a:xfrm>
          <a:prstGeom prst="roundRect">
            <a:avLst>
              <a:gd name="adj" fmla="val 2162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05156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169164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JS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2496312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Leaflet.js 1.9.4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300984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CSS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105656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theme UI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91032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ảnh đồng bộ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94760" y="3383280"/>
            <a:ext cx="914400" cy="457200"/>
          </a:xfrm>
          <a:prstGeom prst="rightArrow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476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760" y="2834640"/>
            <a:ext cx="914400" cy="457200"/>
          </a:xfrm>
          <a:prstGeom prst="leftArrow">
            <a:avLst/>
          </a:prstGeom>
          <a:solidFill>
            <a:srgbClr val="6B7AB8"/>
          </a:solidFill>
          <a:ln w="12700">
            <a:solidFill>
              <a:srgbClr val="6B7A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94760" y="2514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1051560"/>
            <a:ext cx="3383280" cy="5394960"/>
          </a:xfrm>
          <a:prstGeom prst="roundRect">
            <a:avLst>
              <a:gd name="adj" fmla="val 2162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05156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0" y="169164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3.x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0" y="2496312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0" y="3300984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4105656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/ DFS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0" y="491032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/ A*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366760" y="3566160"/>
            <a:ext cx="640080" cy="411480"/>
          </a:xfrm>
          <a:prstGeom prst="rightArrow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98280" y="1051560"/>
            <a:ext cx="2788920" cy="5394960"/>
          </a:xfrm>
          <a:prstGeom prst="roundRect">
            <a:avLst>
              <a:gd name="adj" fmla="val 2623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105156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098280" y="1691640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nodes.json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98280" y="2496312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1 007 nút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098280" y="3300984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edges.json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098280" y="4105656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2 644 cạnh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098280" y="4910328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osmnx export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 Thuật Toán — BFS &amp; DFS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5440680" cy="5394960"/>
          </a:xfrm>
          <a:prstGeom prst="roundRect">
            <a:avLst>
              <a:gd name="adj" fmla="val 1356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05156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4ECDC4">
              <a:alpha val="25000"/>
            </a:srgbClr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05156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 Breadth-First Search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178308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Duyệt theo chiều rộng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2496312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Hàng đợi (Queue)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209544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Tìm đường ÍT BƯỚC nhất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3922776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Không tối ưu khoảng cách thực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6360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Độ phức tạp: O(V + E)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0" y="1051560"/>
            <a:ext cx="5440680" cy="5394960"/>
          </a:xfrm>
          <a:prstGeom prst="roundRect">
            <a:avLst>
              <a:gd name="adj" fmla="val 1356"/>
            </a:avLst>
          </a:prstGeom>
          <a:solidFill>
            <a:srgbClr val="1C1945"/>
          </a:solidFill>
          <a:ln w="15240">
            <a:solidFill>
              <a:srgbClr val="FF6B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05156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FF6B6B">
              <a:alpha val="25000"/>
            </a:srgbClr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05156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  Depth-First Search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9400" y="178308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Duyệt theo chiều sâu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29400" y="2496312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Ngăn xếp (Stack)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209544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KHÔNG đảm bảo tối ưu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3922776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Đường đi có thể rất dài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29400" y="46360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Độ phức tạp: O(V + E)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05856" y="3474720"/>
            <a:ext cx="777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320040" y="6446520"/>
            <a:ext cx="11521440" cy="301752"/>
          </a:xfrm>
          <a:prstGeom prst="roundRect">
            <a:avLst>
              <a:gd name="adj" fmla="val 15152"/>
            </a:avLst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đảm bảo đường ÍT CẠNH nhất · DFS nhanh hơn trong nhiều trường hợp nhưng không tối ưu trên bản đồ có trọng số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 Thuật Toán — Dijkstra &amp; A*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5440680" cy="5394960"/>
          </a:xfrm>
          <a:prstGeom prst="roundRect">
            <a:avLst>
              <a:gd name="adj" fmla="val 1356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05156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FFD166">
              <a:alpha val="2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05156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178308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Tìm đường NGẮN NHẤT tuyệt đối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2496312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Min-heap (priority queue)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209544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Mở rộng nút gần nguồn nhất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3922776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Tối ưu trên đồ thị trọng số ≥ 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6360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Độ phức tạp: O((V+E) log V)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0" y="1051560"/>
            <a:ext cx="5440680" cy="5394960"/>
          </a:xfrm>
          <a:prstGeom prst="roundRect">
            <a:avLst>
              <a:gd name="adj" fmla="val 1356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05156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06D6A0">
              <a:alpha val="25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05156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 (A-Star)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9400" y="178308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Dijkstra + heuristic dẫn hướng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29400" y="2496312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f(n) = g(n) + h(n)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209544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h(n) = khoảng cách Haversine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3922776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Tối ưu VÀ nhanh hơn Dijkstra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29400" y="46360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Duyệt ít nút hơn đáng kể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05856" y="3474720"/>
            <a:ext cx="777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320040" y="6446520"/>
            <a:ext cx="11521440" cy="301752"/>
          </a:xfrm>
          <a:prstGeom prst="roundRect">
            <a:avLst>
              <a:gd name="adj" fmla="val 15152"/>
            </a:avLst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h(n) ≤ khoảng cách thực  →  Admissible heuristic  →  A* đảm bảo kết quả tối ưu như Dijkstra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 Giao Diện và Tính Năng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6309360" cy="987552"/>
          </a:xfrm>
          <a:prstGeom prst="roundRect">
            <a:avLst>
              <a:gd name="adj" fmla="val 740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78992"/>
            <a:ext cx="5943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🖱️ Chọn điểm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146304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bản đồ, tự snap đến nút giao thông gần nhất.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" y="2148840"/>
            <a:ext cx="6309360" cy="987552"/>
          </a:xfrm>
          <a:prstGeom prst="roundRect">
            <a:avLst>
              <a:gd name="adj" fmla="val 740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76272"/>
            <a:ext cx="5943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Chạy đồng thời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256032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Bốn thuật toán chạy song song, hoạt ảnh từng bước đồng bộ.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3246120"/>
            <a:ext cx="6309360" cy="987552"/>
          </a:xfrm>
          <a:prstGeom prst="roundRect">
            <a:avLst>
              <a:gd name="adj" fmla="val 740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273552"/>
            <a:ext cx="5943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Điều chỉnh tốc độ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" y="365760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kéo 50ms–500ms điều chỉnh tốc độ hoạt ảnh theo thời gian thực.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4343400"/>
            <a:ext cx="6309360" cy="987552"/>
          </a:xfrm>
          <a:prstGeom prst="roundRect">
            <a:avLst>
              <a:gd name="adj" fmla="val 740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370832"/>
            <a:ext cx="5943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 Toggle ẩn/hiện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475488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thẻ thống kê để ẩn/hiện đường đi từng thuật toán.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20040" y="5440680"/>
            <a:ext cx="6309360" cy="987552"/>
          </a:xfrm>
          <a:prstGeom prst="roundRect">
            <a:avLst>
              <a:gd name="adj" fmla="val 740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5468112"/>
            <a:ext cx="5943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Concentric Rings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" y="585216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8px · DFS 6px · Dijkstra 4px · A* 2px — thấy cả 4 cùng lúc.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995160" y="1051560"/>
            <a:ext cx="4846320" cy="5486400"/>
          </a:xfrm>
          <a:prstGeom prst="roundRect">
            <a:avLst>
              <a:gd name="adj" fmla="val 1509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95160" y="10972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màu thuật toán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178040" y="164592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223760" y="1755648"/>
            <a:ext cx="146304" cy="73152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16368" y="1700784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516368" y="213969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8px — ngoài cùng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178040" y="274320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1C1945"/>
          </a:solidFill>
          <a:ln w="15240">
            <a:solidFill>
              <a:srgbClr val="FF6B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23760" y="2852928"/>
            <a:ext cx="146304" cy="73152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16368" y="2798064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516368" y="323697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6px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178040" y="384048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23760" y="3950208"/>
            <a:ext cx="146304" cy="73152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16368" y="3895344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516368" y="433425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4px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178040" y="493776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3760" y="5047488"/>
            <a:ext cx="146304" cy="73152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16368" y="4992624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516368" y="543153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2px — trong cùng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 Demo — Giao Diện Thực Tế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7680960" cy="5486400"/>
          </a:xfrm>
          <a:prstGeom prst="roundRect">
            <a:avLst>
              <a:gd name="adj" fmla="val 1333"/>
            </a:avLst>
          </a:prstGeom>
          <a:solidFill>
            <a:srgbClr val="1C1945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051560"/>
            <a:ext cx="76809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</a:rPr>
              <a:t>🗺️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320040" y="39776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bản đồ — hoạt ảnh 4 thuật toán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86000" y="4480560"/>
            <a:ext cx="822960" cy="16459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4480560"/>
            <a:ext cx="822960" cy="164592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4480560"/>
            <a:ext cx="822960" cy="16459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4480560"/>
            <a:ext cx="822960" cy="16459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051560"/>
            <a:ext cx="3657600" cy="2560320"/>
          </a:xfrm>
          <a:prstGeom prst="roundRect">
            <a:avLst>
              <a:gd name="adj" fmla="val 2857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105156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📊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8229600" y="2423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thống kê so sánh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3840480"/>
            <a:ext cx="3657600" cy="2697480"/>
          </a:xfrm>
          <a:prstGeom prst="roundRect">
            <a:avLst>
              <a:gd name="adj" fmla="val 2712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384048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⚙️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8229600" y="5212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panel · điều chỉnh tốc độ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Thay bằng ảnh chụp màn hình thực tế khi in/xuất file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 Kết Quả So Sánh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9601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PTIT → Vincom Hà Đông (~3km) — kết quả điển hình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71600"/>
            <a:ext cx="2011680" cy="640080"/>
          </a:xfrm>
          <a:prstGeom prst="rect">
            <a:avLst/>
          </a:prstGeom>
          <a:solidFill>
            <a:srgbClr val="1E1B4B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3716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331720" y="1371600"/>
            <a:ext cx="1645920" cy="640080"/>
          </a:xfrm>
          <a:prstGeom prst="rect">
            <a:avLst/>
          </a:prstGeom>
          <a:solidFill>
            <a:srgbClr val="1E1B4B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13716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Nút duyệt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77640" y="1371600"/>
            <a:ext cx="1737360" cy="640080"/>
          </a:xfrm>
          <a:prstGeom prst="rect">
            <a:avLst/>
          </a:prstGeom>
          <a:solidFill>
            <a:srgbClr val="1E1B4B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77640" y="1371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dài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0" y="1371600"/>
            <a:ext cx="1737360" cy="640080"/>
          </a:xfrm>
          <a:prstGeom prst="rect">
            <a:avLst/>
          </a:prstGeom>
          <a:solidFill>
            <a:srgbClr val="1E1B4B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15000" y="1371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2011680"/>
            <a:ext cx="2011680" cy="640080"/>
          </a:xfrm>
          <a:prstGeom prst="rect">
            <a:avLst/>
          </a:prstGeom>
          <a:solidFill>
            <a:srgbClr val="1E1B4B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0116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BFS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331720" y="2011680"/>
            <a:ext cx="1645920" cy="640080"/>
          </a:xfrm>
          <a:prstGeom prst="rect">
            <a:avLst/>
          </a:prstGeom>
          <a:solidFill>
            <a:srgbClr val="1E1B4B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31720" y="20116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977640" y="2011680"/>
            <a:ext cx="1737360" cy="640080"/>
          </a:xfrm>
          <a:prstGeom prst="rect">
            <a:avLst/>
          </a:prstGeom>
          <a:solidFill>
            <a:srgbClr val="1E1B4B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77640" y="201168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~2 400m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715000" y="2011680"/>
            <a:ext cx="1737360" cy="640080"/>
          </a:xfrm>
          <a:prstGeom prst="rect">
            <a:avLst/>
          </a:prstGeom>
          <a:solidFill>
            <a:srgbClr val="1E1B4B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15000" y="201168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~18ms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20040" y="2651760"/>
            <a:ext cx="2011680" cy="640080"/>
          </a:xfrm>
          <a:prstGeom prst="rect">
            <a:avLst/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26517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DFS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331720" y="2651760"/>
            <a:ext cx="1645920" cy="640080"/>
          </a:xfrm>
          <a:prstGeom prst="rect">
            <a:avLst/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31720" y="265176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~320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977640" y="2651760"/>
            <a:ext cx="1737360" cy="640080"/>
          </a:xfrm>
          <a:prstGeom prst="rect">
            <a:avLst/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77640" y="26517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~4 100m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715000" y="2651760"/>
            <a:ext cx="1737360" cy="640080"/>
          </a:xfrm>
          <a:prstGeom prst="rect">
            <a:avLst/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15000" y="26517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~22ms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20040" y="3291840"/>
            <a:ext cx="2011680" cy="640080"/>
          </a:xfrm>
          <a:prstGeom prst="rect">
            <a:avLst/>
          </a:prstGeom>
          <a:solidFill>
            <a:srgbClr val="1E1B4B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32918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Dijkstra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331720" y="3291840"/>
            <a:ext cx="1645920" cy="640080"/>
          </a:xfrm>
          <a:prstGeom prst="rect">
            <a:avLst/>
          </a:prstGeom>
          <a:solidFill>
            <a:srgbClr val="1E1B4B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331720" y="329184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~220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977640" y="3291840"/>
            <a:ext cx="1737360" cy="640080"/>
          </a:xfrm>
          <a:prstGeom prst="rect">
            <a:avLst/>
          </a:prstGeom>
          <a:solidFill>
            <a:srgbClr val="1E1B4B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77640" y="32918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~2 100m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715000" y="3291840"/>
            <a:ext cx="1737360" cy="640080"/>
          </a:xfrm>
          <a:prstGeom prst="rect">
            <a:avLst/>
          </a:prstGeom>
          <a:solidFill>
            <a:srgbClr val="1E1B4B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15000" y="32918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~14ms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20040" y="3931920"/>
            <a:ext cx="2011680" cy="640080"/>
          </a:xfrm>
          <a:prstGeom prst="rect">
            <a:avLst/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39319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A*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2331720" y="3931920"/>
            <a:ext cx="1645920" cy="640080"/>
          </a:xfrm>
          <a:prstGeom prst="rect">
            <a:avLst/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331720" y="39319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977640" y="3931920"/>
            <a:ext cx="1737360" cy="640080"/>
          </a:xfrm>
          <a:prstGeom prst="rect">
            <a:avLst/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77640" y="39319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~2 100m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715000" y="3931920"/>
            <a:ext cx="1737360" cy="640080"/>
          </a:xfrm>
          <a:prstGeom prst="rect">
            <a:avLst/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15000" y="39319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~8ms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7315200" y="137160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52360" y="14630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A* — Hiệu quả nhất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7452360" y="1874520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ít nút nhất (~95) nhờ heuristic. Nhanh gấp ~1.75× Dijkstra, cùng độ dài tối ưu.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7315200" y="274320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52360" y="28346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Dijkstra — Tối ưu đảm bảo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452360" y="3246120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Đường ngắn nhất tuyệt đối. Chậm hơn A* vì không có định hướng.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7315200" y="411480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452360" y="42062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BFS — Ít bước nhất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7452360" y="4617720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đường ít cạnh nhất, không tính trọng số. Dài hơn ~14% so với Dijkstra.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7315200" y="548640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1C1945"/>
          </a:solidFill>
          <a:ln w="15240">
            <a:solidFill>
              <a:srgbClr val="FF6B6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452360" y="55778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DFS — Kém nhất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452360" y="5989320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nhiều nút nhất, đường dài nhất (~4 100m). Không phù hợp tìm đường tối ưu.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 Kiểm Thử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A5B4FC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1430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20040" y="21945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0" y="105156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1430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200400" y="21945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80760" y="105156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11430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5s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6080760" y="21945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chạy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961120" y="105156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0" y="11430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8961120" y="21945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pháp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20040" y="320040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Phạm vi kiểm thử: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20040" y="3703320"/>
            <a:ext cx="5623560" cy="731520"/>
          </a:xfrm>
          <a:prstGeom prst="roundRect">
            <a:avLst>
              <a:gd name="adj" fmla="val 10000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70332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Graph module: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423160" y="370332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Nạp đúng 1 007 nút, 2 644 cạnh từ JSON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3703320"/>
            <a:ext cx="5623560" cy="731520"/>
          </a:xfrm>
          <a:prstGeom prst="roundRect">
            <a:avLst>
              <a:gd name="adj" fmla="val 10000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370332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BFS / DFS: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75320" y="370332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về explored list và path hợp lệ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4526280"/>
            <a:ext cx="5623560" cy="731520"/>
          </a:xfrm>
          <a:prstGeom prst="roundRect">
            <a:avLst>
              <a:gd name="adj" fmla="val 10000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52628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Dijkstra / A*: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423160" y="452628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Khoảng cách tối ưu, length_m chính xác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72200" y="4526280"/>
            <a:ext cx="5623560" cy="731520"/>
          </a:xfrm>
          <a:prstGeom prst="roundRect">
            <a:avLst>
              <a:gd name="adj" fmla="val 10000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452628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API /nodes: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75320" y="452628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định dạng, đủ số lượng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0040" y="5349240"/>
            <a:ext cx="5623560" cy="731520"/>
          </a:xfrm>
          <a:prstGeom prst="roundRect">
            <a:avLst>
              <a:gd name="adj" fmla="val 10000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53492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API /pathfind: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423160" y="53492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4 thuật toán, xử lý input sai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72200" y="5349240"/>
            <a:ext cx="5623560" cy="731520"/>
          </a:xfrm>
          <a:prstGeom prst="roundRect">
            <a:avLst>
              <a:gd name="adj" fmla="val 10000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53492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Edge cases: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275320" y="53492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start==end, không có đường, node không tồn tại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 Kết Luận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6B7AB8"/>
          </a:solidFill>
          <a:ln w="12700">
            <a:solidFill>
              <a:srgbClr val="6B7A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5486400" cy="5486400"/>
          </a:xfrm>
          <a:prstGeom prst="roundRect">
            <a:avLst>
              <a:gd name="adj" fmla="val 1333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0515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Kết quả đạt được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1783080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Trực quan hóa 4 thuật toán đồng thời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532888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Bản đồ thực Hà Đông 1 007 nút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82696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Hoạt ảnh, toggle, điều chỉnh tốc độ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032504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Concentric Rings — thấy cả 4 màu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4782312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34 unit test, tất cả pass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5532120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README + GitHub public repo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63640" y="1051560"/>
            <a:ext cx="5623560" cy="5486400"/>
          </a:xfrm>
          <a:prstGeom prst="roundRect">
            <a:avLst>
              <a:gd name="adj" fmla="val 1333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1051560"/>
            <a:ext cx="5623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Hướng phát triển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92240" y="1783080"/>
            <a:ext cx="5166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Mở rộng toàn Hà Nội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92240" y="2532888"/>
            <a:ext cx="5166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Thêm Bellman-Ford, Bidirectional A*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3282696"/>
            <a:ext cx="5166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Cho phép chỉnh sửa đồ thị trực tiếp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4032504"/>
            <a:ext cx="5166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Export kết quả PDF / ảnh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2240" y="4782312"/>
            <a:ext cx="5166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 sánh side-by-side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92240" y="5532120"/>
            <a:ext cx="5166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Tích hợp dữ liệu giao thông thực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Tài Liệu Tham Khảo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A5B4FC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97280"/>
            <a:ext cx="11521440" cy="896112"/>
          </a:xfrm>
          <a:prstGeom prst="roundRect">
            <a:avLst>
              <a:gd name="adj" fmla="val 8163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097280"/>
            <a:ext cx="640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1097280"/>
            <a:ext cx="10561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S. &amp; Norvig, P. — Artificial Intelligence: A Modern Approach, 4th ed., Prentice Hall, 2020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" y="2121408"/>
            <a:ext cx="11521440" cy="896112"/>
          </a:xfrm>
          <a:prstGeom prst="roundRect">
            <a:avLst>
              <a:gd name="adj" fmla="val 8163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121408"/>
            <a:ext cx="640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2121408"/>
            <a:ext cx="10561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contributors — openstreetmap.org (dữ liệu bản đồ Hà Đông, Hà Nội)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3145536"/>
            <a:ext cx="11521440" cy="896112"/>
          </a:xfrm>
          <a:prstGeom prst="roundRect">
            <a:avLst>
              <a:gd name="adj" fmla="val 8163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145536"/>
            <a:ext cx="640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145536"/>
            <a:ext cx="10561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Boeing, G. — OSMnx: New Methods for Acquiring, Constructing, Analyzing, and Visualizing Complex Street Networks. Computers, Environment and Urban Systems, 2017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4169664"/>
            <a:ext cx="11521440" cy="896112"/>
          </a:xfrm>
          <a:prstGeom prst="roundRect">
            <a:avLst>
              <a:gd name="adj" fmla="val 8163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4169664"/>
            <a:ext cx="640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43000" y="4169664"/>
            <a:ext cx="10561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Leaflet.js — leafletjs.com · FastAPI — fastapi.tiangolo.com · PptxGenJS — gitbrent.github.io/PptxGenJS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20040" y="5193792"/>
            <a:ext cx="11521440" cy="896112"/>
          </a:xfrm>
          <a:prstGeom prst="roundRect">
            <a:avLst>
              <a:gd name="adj" fmla="val 8163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5193792"/>
            <a:ext cx="640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43000" y="5193792"/>
            <a:ext cx="10561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Hart, P. E., Nilsson, N. J., &amp; Raphael, B. — A Formal Basis for the Heuristic Determination of Minimum Cost Paths. IEEE TSSC, 1968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-1371600"/>
            <a:ext cx="5486400" cy="5486400"/>
          </a:xfrm>
          <a:prstGeom prst="ellipse">
            <a:avLst/>
          </a:prstGeom>
          <a:solidFill>
            <a:srgbClr val="818CF8">
              <a:alpha val="18000"/>
            </a:srgbClr>
          </a:solidFill>
          <a:ln w="12700">
            <a:solidFill>
              <a:srgbClr val="818CF8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34D399">
              <a:alpha val="15000"/>
            </a:srgbClr>
          </a:solidFill>
          <a:ln w="12700">
            <a:solidFill>
              <a:srgbClr val="34D399">
                <a:alpha val="1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134088" y="0"/>
            <a:ext cx="54864" cy="6858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828800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Xin chân thành cảm ơn!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3200400" y="3154680"/>
            <a:ext cx="28803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08192" y="3154680"/>
            <a:ext cx="2880360" cy="457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337560"/>
            <a:ext cx="114574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PathFinder AI — BFS · DFS · Dijkstra · A*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5760" y="4069080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Nhập Môn Trí Tuệ Nhân Tạo — PTIT 2025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" y="4663440"/>
            <a:ext cx="11457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github.com/huuvietnguyen72/NhapMonAI_PathFinder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2026-05-07T15:13:48Z</dcterms:created>
  <dcterms:modified xsi:type="dcterms:W3CDTF">2026-05-07T15:13:48Z</dcterms:modified>
</cp:coreProperties>
</file>