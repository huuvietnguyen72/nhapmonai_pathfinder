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C29"/>
          </a:solidFill>
          <a:ln w="12700">
            <a:solidFill>
              <a:srgbClr val="0F0C2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114800"/>
          </a:xfrm>
          <a:prstGeom prst="rect">
            <a:avLst/>
          </a:prstGeom>
          <a:solidFill>
            <a:srgbClr val="1E1B4B">
              <a:alpha val="70000"/>
            </a:srgbClr>
          </a:solidFill>
          <a:ln w="12700">
            <a:solidFill>
              <a:srgbClr val="1E1B4B">
                <a:alpha val="7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0" y="0"/>
            <a:ext cx="6702552" cy="6858000"/>
          </a:xfrm>
          <a:prstGeom prst="rect">
            <a:avLst/>
          </a:prstGeom>
          <a:solidFill>
            <a:srgbClr val="312E81">
              <a:alpha val="50000"/>
            </a:srgbClr>
          </a:solidFill>
          <a:ln w="12700">
            <a:solidFill>
              <a:srgbClr val="312E81">
                <a:alpha val="5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54864" cy="342900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3429000"/>
            <a:ext cx="54864" cy="34290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0" y="-1097280"/>
            <a:ext cx="4572000" cy="4572000"/>
          </a:xfrm>
          <a:prstGeom prst="ellipse">
            <a:avLst/>
          </a:prstGeom>
          <a:solidFill>
            <a:srgbClr val="818CF8">
              <a:alpha val="18000"/>
            </a:srgbClr>
          </a:solidFill>
          <a:ln w="12700">
            <a:solidFill>
              <a:srgbClr val="818CF8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-914400" y="4114800"/>
            <a:ext cx="3657600" cy="3657600"/>
          </a:xfrm>
          <a:prstGeom prst="ellipse">
            <a:avLst/>
          </a:prstGeom>
          <a:solidFill>
            <a:srgbClr val="34D399">
              <a:alpha val="15000"/>
            </a:srgbClr>
          </a:solidFill>
          <a:ln w="12700">
            <a:solidFill>
              <a:srgbClr val="34D399">
                <a:alpha val="1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1645920"/>
            <a:ext cx="2743200" cy="2743200"/>
          </a:xfrm>
          <a:prstGeom prst="roundRect">
            <a:avLst>
              <a:gd name="adj" fmla="val 2667"/>
            </a:avLst>
          </a:prstGeom>
          <a:solidFill>
            <a:srgbClr val="1C1945"/>
          </a:solidFill>
          <a:ln w="15240">
            <a:solidFill>
              <a:srgbClr val="818C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1645920"/>
            <a:ext cx="2743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dirty="0">
                <a:solidFill>
                  <a:srgbClr val="000000"/>
                </a:solidFill>
              </a:rPr>
              <a:t>🗺️</a:t>
            </a:r>
            <a:endParaRPr lang="en-US" sz="7200" dirty="0"/>
          </a:p>
        </p:txBody>
      </p:sp>
      <p:sp>
        <p:nvSpPr>
          <p:cNvPr id="11" name="Shape 9"/>
          <p:cNvSpPr/>
          <p:nvPr/>
        </p:nvSpPr>
        <p:spPr>
          <a:xfrm>
            <a:off x="3931920" y="1691640"/>
            <a:ext cx="2926080" cy="347472"/>
          </a:xfrm>
          <a:prstGeom prst="roundRect">
            <a:avLst>
              <a:gd name="adj" fmla="val 39474"/>
            </a:avLst>
          </a:prstGeom>
          <a:solidFill>
            <a:srgbClr val="818CF8">
              <a:alpha val="15000"/>
            </a:srgbClr>
          </a:solidFill>
          <a:ln w="12700">
            <a:solidFill>
              <a:srgbClr val="818CF8">
                <a:alpha val="5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31920" y="169164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Đồ án  ·  Nhập Môn TTNT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931920" y="2240280"/>
            <a:ext cx="7955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PathFinder AI</a:t>
            </a:r>
            <a:endParaRPr lang="en-US" sz="5200" dirty="0"/>
          </a:p>
        </p:txBody>
      </p:sp>
      <p:sp>
        <p:nvSpPr>
          <p:cNvPr id="14" name="Text 12"/>
          <p:cNvSpPr/>
          <p:nvPr/>
        </p:nvSpPr>
        <p:spPr>
          <a:xfrm>
            <a:off x="3931920" y="3246120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Trực Quan Hóa Thuật Toán Tìm Đường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931920" y="3730752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trên Bản Đồ Thực Hà Đông, Hà Nội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3931920" y="4251960"/>
            <a:ext cx="7955280" cy="27432"/>
          </a:xfrm>
          <a:prstGeom prst="rect">
            <a:avLst/>
          </a:prstGeom>
          <a:solidFill>
            <a:srgbClr val="363780"/>
          </a:solidFill>
          <a:ln w="12700">
            <a:solidFill>
              <a:srgbClr val="36378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31920" y="4434840"/>
            <a:ext cx="1508760" cy="347472"/>
          </a:xfrm>
          <a:prstGeom prst="roundRect">
            <a:avLst>
              <a:gd name="adj" fmla="val 13158"/>
            </a:avLst>
          </a:prstGeom>
          <a:solidFill>
            <a:srgbClr val="4ECDC4">
              <a:alpha val="18000"/>
            </a:srgbClr>
          </a:solidFill>
          <a:ln w="12700">
            <a:solidFill>
              <a:srgbClr val="4ECDC4">
                <a:alpha val="5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931920" y="4434840"/>
            <a:ext cx="1508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23560" y="4434840"/>
            <a:ext cx="1508760" cy="347472"/>
          </a:xfrm>
          <a:prstGeom prst="roundRect">
            <a:avLst>
              <a:gd name="adj" fmla="val 13158"/>
            </a:avLst>
          </a:prstGeom>
          <a:solidFill>
            <a:srgbClr val="FF6B6B">
              <a:alpha val="18000"/>
            </a:srgbClr>
          </a:solidFill>
          <a:ln w="12700">
            <a:solidFill>
              <a:srgbClr val="FF6B6B">
                <a:alpha val="5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23560" y="4434840"/>
            <a:ext cx="1508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15200" y="4434840"/>
            <a:ext cx="1508760" cy="347472"/>
          </a:xfrm>
          <a:prstGeom prst="roundRect">
            <a:avLst>
              <a:gd name="adj" fmla="val 13158"/>
            </a:avLst>
          </a:prstGeom>
          <a:solidFill>
            <a:srgbClr val="FFD166">
              <a:alpha val="18000"/>
            </a:srgbClr>
          </a:solidFill>
          <a:ln w="12700">
            <a:solidFill>
              <a:srgbClr val="FFD166">
                <a:alpha val="5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0" y="4434840"/>
            <a:ext cx="1508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Dijkstra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006840" y="4434840"/>
            <a:ext cx="1508760" cy="347472"/>
          </a:xfrm>
          <a:prstGeom prst="roundRect">
            <a:avLst>
              <a:gd name="adj" fmla="val 13158"/>
            </a:avLst>
          </a:prstGeom>
          <a:solidFill>
            <a:srgbClr val="06D6A0">
              <a:alpha val="18000"/>
            </a:srgbClr>
          </a:solidFill>
          <a:ln w="12700">
            <a:solidFill>
              <a:srgbClr val="06D6A0">
                <a:alpha val="50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006840" y="4434840"/>
            <a:ext cx="1508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A*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931920" y="5074920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viện Công nghệ Bưu chính Viễn thông (PTIT)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931920" y="5440680"/>
            <a:ext cx="7955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 Nội – 2025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C29"/>
          </a:solidFill>
          <a:ln w="12700">
            <a:solidFill>
              <a:srgbClr val="0F0C2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114800"/>
          </a:xfrm>
          <a:prstGeom prst="rect">
            <a:avLst/>
          </a:prstGeom>
          <a:solidFill>
            <a:srgbClr val="1E1B4B">
              <a:alpha val="70000"/>
            </a:srgbClr>
          </a:solidFill>
          <a:ln w="12700">
            <a:solidFill>
              <a:srgbClr val="1E1B4B">
                <a:alpha val="7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0" y="0"/>
            <a:ext cx="6702552" cy="6858000"/>
          </a:xfrm>
          <a:prstGeom prst="rect">
            <a:avLst/>
          </a:prstGeom>
          <a:solidFill>
            <a:srgbClr val="312E81">
              <a:alpha val="50000"/>
            </a:srgbClr>
          </a:solidFill>
          <a:ln w="12700">
            <a:solidFill>
              <a:srgbClr val="312E81">
                <a:alpha val="5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54864" cy="342900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3429000"/>
            <a:ext cx="54864" cy="34290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274320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 Trình Bày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11430000" cy="27432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051560"/>
            <a:ext cx="5303520" cy="621792"/>
          </a:xfrm>
          <a:prstGeom prst="roundRect">
            <a:avLst>
              <a:gd name="adj" fmla="val 11765"/>
            </a:avLst>
          </a:prstGeom>
          <a:solidFill>
            <a:srgbClr val="1C1945"/>
          </a:solidFill>
          <a:ln w="15240">
            <a:solidFill>
              <a:srgbClr val="4ECD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064" y="1115568"/>
            <a:ext cx="493776" cy="493776"/>
          </a:xfrm>
          <a:prstGeom prst="roundRect">
            <a:avLst>
              <a:gd name="adj" fmla="val 9259"/>
            </a:avLst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064" y="1115568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0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115568" y="1051560"/>
            <a:ext cx="45902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Giới thiệu đề tài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92240" y="1051560"/>
            <a:ext cx="5303520" cy="621792"/>
          </a:xfrm>
          <a:prstGeom prst="roundRect">
            <a:avLst>
              <a:gd name="adj" fmla="val 11765"/>
            </a:avLst>
          </a:prstGeom>
          <a:solidFill>
            <a:srgbClr val="1C1945"/>
          </a:solidFill>
          <a:ln w="15240">
            <a:solidFill>
              <a:srgbClr val="FFD1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47104" y="1115568"/>
            <a:ext cx="493776" cy="493776"/>
          </a:xfrm>
          <a:prstGeom prst="roundRect">
            <a:avLst>
              <a:gd name="adj" fmla="val 9259"/>
            </a:avLst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47104" y="1115568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0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7150608" y="1051560"/>
            <a:ext cx="45902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Kiến trúc hệ thống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57200" y="1810512"/>
            <a:ext cx="5303520" cy="621792"/>
          </a:xfrm>
          <a:prstGeom prst="roundRect">
            <a:avLst>
              <a:gd name="adj" fmla="val 11765"/>
            </a:avLst>
          </a:prstGeom>
          <a:solidFill>
            <a:srgbClr val="1C1945"/>
          </a:solidFill>
          <a:ln w="15240">
            <a:solidFill>
              <a:srgbClr val="FF6B6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12064" y="18745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2064" y="1874520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0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115568" y="1810512"/>
            <a:ext cx="45902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Thuật toán BFS &amp; DFS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492240" y="1810512"/>
            <a:ext cx="5303520" cy="621792"/>
          </a:xfrm>
          <a:prstGeom prst="roundRect">
            <a:avLst>
              <a:gd name="adj" fmla="val 11765"/>
            </a:avLst>
          </a:prstGeom>
          <a:solidFill>
            <a:srgbClr val="1C1945"/>
          </a:solidFill>
          <a:ln w="15240">
            <a:solidFill>
              <a:srgbClr val="06D6A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47104" y="18745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47104" y="1874520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0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7150608" y="1810512"/>
            <a:ext cx="45902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Thuật toán Dijkstra &amp; A*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57200" y="2569464"/>
            <a:ext cx="5303520" cy="621792"/>
          </a:xfrm>
          <a:prstGeom prst="roundRect">
            <a:avLst>
              <a:gd name="adj" fmla="val 11765"/>
            </a:avLst>
          </a:prstGeom>
          <a:solidFill>
            <a:srgbClr val="1C1945"/>
          </a:solidFill>
          <a:ln w="15240">
            <a:solidFill>
              <a:srgbClr val="818CF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2064" y="2633472"/>
            <a:ext cx="493776" cy="493776"/>
          </a:xfrm>
          <a:prstGeom prst="roundRect">
            <a:avLst>
              <a:gd name="adj" fmla="val 9259"/>
            </a:avLst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2064" y="2633472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0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1115568" y="2569464"/>
            <a:ext cx="45902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diện &amp; Demo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492240" y="2569464"/>
            <a:ext cx="5303520" cy="621792"/>
          </a:xfrm>
          <a:prstGeom prst="roundRect">
            <a:avLst>
              <a:gd name="adj" fmla="val 11765"/>
            </a:avLst>
          </a:prstGeom>
          <a:solidFill>
            <a:srgbClr val="1C1945"/>
          </a:solidFill>
          <a:ln w="15240">
            <a:solidFill>
              <a:srgbClr val="34D39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47104" y="2633472"/>
            <a:ext cx="493776" cy="493776"/>
          </a:xfrm>
          <a:prstGeom prst="roundRect">
            <a:avLst>
              <a:gd name="adj" fmla="val 9259"/>
            </a:avLst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47104" y="2633472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0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7150608" y="2569464"/>
            <a:ext cx="45902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quả so sánh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457200" y="3328416"/>
            <a:ext cx="5303520" cy="621792"/>
          </a:xfrm>
          <a:prstGeom prst="roundRect">
            <a:avLst>
              <a:gd name="adj" fmla="val 11765"/>
            </a:avLst>
          </a:prstGeom>
          <a:solidFill>
            <a:srgbClr val="1C1945"/>
          </a:solidFill>
          <a:ln w="15240">
            <a:solidFill>
              <a:srgbClr val="6B7AB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12064" y="3392424"/>
            <a:ext cx="493776" cy="493776"/>
          </a:xfrm>
          <a:prstGeom prst="roundRect">
            <a:avLst>
              <a:gd name="adj" fmla="val 9259"/>
            </a:avLst>
          </a:prstGeom>
          <a:solidFill>
            <a:srgbClr val="6B7AB8"/>
          </a:solidFill>
          <a:ln w="12700">
            <a:solidFill>
              <a:srgbClr val="6B7AB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12064" y="3392424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0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700" dirty="0"/>
          </a:p>
        </p:txBody>
      </p:sp>
      <p:sp>
        <p:nvSpPr>
          <p:cNvPr id="36" name="Text 34"/>
          <p:cNvSpPr/>
          <p:nvPr/>
        </p:nvSpPr>
        <p:spPr>
          <a:xfrm>
            <a:off x="1115568" y="3328416"/>
            <a:ext cx="45902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Kiểm thử &amp; Kết luận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C29"/>
          </a:solidFill>
          <a:ln w="12700">
            <a:solidFill>
              <a:srgbClr val="0F0C2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114800"/>
          </a:xfrm>
          <a:prstGeom prst="rect">
            <a:avLst/>
          </a:prstGeom>
          <a:solidFill>
            <a:srgbClr val="1E1B4B">
              <a:alpha val="70000"/>
            </a:srgbClr>
          </a:solidFill>
          <a:ln w="12700">
            <a:solidFill>
              <a:srgbClr val="1E1B4B">
                <a:alpha val="7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0" y="0"/>
            <a:ext cx="6702552" cy="6858000"/>
          </a:xfrm>
          <a:prstGeom prst="rect">
            <a:avLst/>
          </a:prstGeom>
          <a:solidFill>
            <a:srgbClr val="312E81">
              <a:alpha val="50000"/>
            </a:srgbClr>
          </a:solidFill>
          <a:ln w="12700">
            <a:solidFill>
              <a:srgbClr val="312E81">
                <a:alpha val="5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54864" cy="342900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3429000"/>
            <a:ext cx="54864" cy="34290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274320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01. Giới Thiệu Đề Tài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11430000" cy="27432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005840"/>
            <a:ext cx="11430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toán tìm đường là bài toán nền tảng trong Trí tuệ Nhân tạo. PathFinder AI áp dụng 4 thuật toán trực tiếp lên bản đồ đường bộ thực của Hà Đông — không phải đồ thị lý thuyết.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65760" y="1874520"/>
            <a:ext cx="2743200" cy="4663440"/>
          </a:xfrm>
          <a:prstGeom prst="roundRect">
            <a:avLst>
              <a:gd name="adj" fmla="val 2667"/>
            </a:avLst>
          </a:prstGeom>
          <a:solidFill>
            <a:srgbClr val="1C1945"/>
          </a:solidFill>
          <a:ln w="15240">
            <a:solidFill>
              <a:srgbClr val="36378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201168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00000"/>
                </a:solidFill>
              </a:rPr>
              <a:t>🗺️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365760" y="29260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Bản đồ thực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65760" y="3429000"/>
            <a:ext cx="27432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1 007 nút giao thông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2 644 cạnh đường bộ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 Đông, Hà Nội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246120" y="1874520"/>
            <a:ext cx="2743200" cy="4663440"/>
          </a:xfrm>
          <a:prstGeom prst="roundRect">
            <a:avLst>
              <a:gd name="adj" fmla="val 2667"/>
            </a:avLst>
          </a:prstGeom>
          <a:solidFill>
            <a:srgbClr val="1C1945"/>
          </a:solidFill>
          <a:ln w="15240">
            <a:solidFill>
              <a:srgbClr val="3637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46120" y="201168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00000"/>
                </a:solidFill>
              </a:rPr>
              <a:t>⚡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3246120" y="29260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Đồng thời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246120" y="3429000"/>
            <a:ext cx="27432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Chạy song song 4 thuật toán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Hoạt ảnh từng bước khám phá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126480" y="1874520"/>
            <a:ext cx="2743200" cy="4663440"/>
          </a:xfrm>
          <a:prstGeom prst="roundRect">
            <a:avLst>
              <a:gd name="adj" fmla="val 2667"/>
            </a:avLst>
          </a:prstGeom>
          <a:solidFill>
            <a:srgbClr val="1C1945"/>
          </a:solidFill>
          <a:ln w="15240">
            <a:solidFill>
              <a:srgbClr val="3637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26480" y="201168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00000"/>
                </a:solidFill>
              </a:rPr>
              <a:t>📊</a:t>
            </a:r>
            <a:endParaRPr lang="en-US" sz="3800" dirty="0"/>
          </a:p>
        </p:txBody>
      </p:sp>
      <p:sp>
        <p:nvSpPr>
          <p:cNvPr id="20" name="Text 18"/>
          <p:cNvSpPr/>
          <p:nvPr/>
        </p:nvSpPr>
        <p:spPr>
          <a:xfrm>
            <a:off x="6126480" y="29260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sánh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126480" y="3429000"/>
            <a:ext cx="27432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Số nút duyệt · Độ dài đường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Thời gian thực thi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006840" y="1874520"/>
            <a:ext cx="2743200" cy="4663440"/>
          </a:xfrm>
          <a:prstGeom prst="roundRect">
            <a:avLst>
              <a:gd name="adj" fmla="val 2667"/>
            </a:avLst>
          </a:prstGeom>
          <a:solidFill>
            <a:srgbClr val="1C1945"/>
          </a:solidFill>
          <a:ln w="15240">
            <a:solidFill>
              <a:srgbClr val="36378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006840" y="201168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00000"/>
                </a:solidFill>
              </a:rPr>
              <a:t>🎛️</a:t>
            </a:r>
            <a:endParaRPr lang="en-US" sz="3800" dirty="0"/>
          </a:p>
        </p:txBody>
      </p:sp>
      <p:sp>
        <p:nvSpPr>
          <p:cNvPr id="24" name="Text 22"/>
          <p:cNvSpPr/>
          <p:nvPr/>
        </p:nvSpPr>
        <p:spPr>
          <a:xfrm>
            <a:off x="9006840" y="29260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Tương tác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006840" y="3429000"/>
            <a:ext cx="27432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chọn điểm · Điều chỉnh tốc độ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Ẩn/hiện từng thuật toán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C29"/>
          </a:solidFill>
          <a:ln w="12700">
            <a:solidFill>
              <a:srgbClr val="0F0C2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114800"/>
          </a:xfrm>
          <a:prstGeom prst="rect">
            <a:avLst/>
          </a:prstGeom>
          <a:solidFill>
            <a:srgbClr val="1E1B4B">
              <a:alpha val="70000"/>
            </a:srgbClr>
          </a:solidFill>
          <a:ln w="12700">
            <a:solidFill>
              <a:srgbClr val="1E1B4B">
                <a:alpha val="7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0" y="0"/>
            <a:ext cx="6702552" cy="6858000"/>
          </a:xfrm>
          <a:prstGeom prst="rect">
            <a:avLst/>
          </a:prstGeom>
          <a:solidFill>
            <a:srgbClr val="312E81">
              <a:alpha val="50000"/>
            </a:srgbClr>
          </a:solidFill>
          <a:ln w="12700">
            <a:solidFill>
              <a:srgbClr val="312E81">
                <a:alpha val="5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54864" cy="342900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3429000"/>
            <a:ext cx="54864" cy="34290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274320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02. Kiến Trúc Hệ Thống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11430000" cy="27432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1051560"/>
            <a:ext cx="3383280" cy="5394960"/>
          </a:xfrm>
          <a:prstGeom prst="roundRect">
            <a:avLst>
              <a:gd name="adj" fmla="val 2162"/>
            </a:avLst>
          </a:prstGeom>
          <a:solidFill>
            <a:srgbClr val="1C1945"/>
          </a:solidFill>
          <a:ln w="15240">
            <a:solidFill>
              <a:srgbClr val="4ECD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1051560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" y="1691640"/>
            <a:ext cx="3017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Vanilla JS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2496312"/>
            <a:ext cx="3017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Leaflet.js 1.9.4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3300984"/>
            <a:ext cx="3017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/ CSS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4105656"/>
            <a:ext cx="3017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theme UI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4910328"/>
            <a:ext cx="3017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Hoạt ảnh đồng bộ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794760" y="3383280"/>
            <a:ext cx="914400" cy="457200"/>
          </a:xfrm>
          <a:prstGeom prst="rightArrow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94760" y="38862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94760" y="2834640"/>
            <a:ext cx="914400" cy="457200"/>
          </a:xfrm>
          <a:prstGeom prst="leftArrow">
            <a:avLst/>
          </a:prstGeom>
          <a:solidFill>
            <a:srgbClr val="6B7AB8"/>
          </a:solidFill>
          <a:ln w="12700">
            <a:solidFill>
              <a:srgbClr val="6B7AB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794760" y="2514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846320" y="1051560"/>
            <a:ext cx="3383280" cy="5394960"/>
          </a:xfrm>
          <a:prstGeom prst="roundRect">
            <a:avLst>
              <a:gd name="adj" fmla="val 2162"/>
            </a:avLst>
          </a:prstGeom>
          <a:solidFill>
            <a:srgbClr val="1C1945"/>
          </a:solidFill>
          <a:ln w="15240">
            <a:solidFill>
              <a:srgbClr val="FFD16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0" y="1051560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029200" y="1691640"/>
            <a:ext cx="3017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3.x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029200" y="2496312"/>
            <a:ext cx="3017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029200" y="3300984"/>
            <a:ext cx="3017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uvicorn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029200" y="4105656"/>
            <a:ext cx="3017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BFS / DFS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029200" y="4910328"/>
            <a:ext cx="3017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Dijkstra / A*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366760" y="3566160"/>
            <a:ext cx="640080" cy="411480"/>
          </a:xfrm>
          <a:prstGeom prst="rightArrow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098280" y="1051560"/>
            <a:ext cx="2788920" cy="5394960"/>
          </a:xfrm>
          <a:prstGeom prst="roundRect">
            <a:avLst>
              <a:gd name="adj" fmla="val 2623"/>
            </a:avLst>
          </a:prstGeom>
          <a:solidFill>
            <a:srgbClr val="1C1945"/>
          </a:solidFill>
          <a:ln w="15240">
            <a:solidFill>
              <a:srgbClr val="06D6A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098280" y="1051560"/>
            <a:ext cx="2788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DỮ LIỆU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9098280" y="1691640"/>
            <a:ext cx="2788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nodes.json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098280" y="2496312"/>
            <a:ext cx="2788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1 007 nút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9098280" y="3300984"/>
            <a:ext cx="2788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edges.json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9098280" y="4105656"/>
            <a:ext cx="2788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2 644 cạnh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9098280" y="4910328"/>
            <a:ext cx="2788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osmnx export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C29"/>
          </a:solidFill>
          <a:ln w="12700">
            <a:solidFill>
              <a:srgbClr val="0F0C2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114800"/>
          </a:xfrm>
          <a:prstGeom prst="rect">
            <a:avLst/>
          </a:prstGeom>
          <a:solidFill>
            <a:srgbClr val="1E1B4B">
              <a:alpha val="70000"/>
            </a:srgbClr>
          </a:solidFill>
          <a:ln w="12700">
            <a:solidFill>
              <a:srgbClr val="1E1B4B">
                <a:alpha val="7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0" y="0"/>
            <a:ext cx="6702552" cy="6858000"/>
          </a:xfrm>
          <a:prstGeom prst="rect">
            <a:avLst/>
          </a:prstGeom>
          <a:solidFill>
            <a:srgbClr val="312E81">
              <a:alpha val="50000"/>
            </a:srgbClr>
          </a:solidFill>
          <a:ln w="12700">
            <a:solidFill>
              <a:srgbClr val="312E81">
                <a:alpha val="5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54864" cy="342900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3429000"/>
            <a:ext cx="54864" cy="34290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274320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 Thuật Toán — BFS &amp; DFS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11430000" cy="27432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051560"/>
            <a:ext cx="5440680" cy="5394960"/>
          </a:xfrm>
          <a:prstGeom prst="roundRect">
            <a:avLst>
              <a:gd name="adj" fmla="val 1356"/>
            </a:avLst>
          </a:prstGeom>
          <a:solidFill>
            <a:srgbClr val="1C1945"/>
          </a:solidFill>
          <a:ln w="15240">
            <a:solidFill>
              <a:srgbClr val="4ECD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0040" y="1051560"/>
            <a:ext cx="5440680" cy="548640"/>
          </a:xfrm>
          <a:prstGeom prst="roundRect">
            <a:avLst>
              <a:gd name="adj" fmla="val 13333"/>
            </a:avLst>
          </a:prstGeom>
          <a:solidFill>
            <a:srgbClr val="4ECDC4">
              <a:alpha val="25000"/>
            </a:srgbClr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1051560"/>
            <a:ext cx="5440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BFS  Breadth-First Search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48640" y="1783080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Duyệt theo chiều rộng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48640" y="2496312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Hàng đợi (Queue)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48640" y="3209544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Tìm đường ÍT BƯỚC nhất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48640" y="3922776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Không tối ưu khoảng cách thực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48640" y="4636008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Độ phức tạp: O(V + E)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400800" y="1051560"/>
            <a:ext cx="5440680" cy="5394960"/>
          </a:xfrm>
          <a:prstGeom prst="roundRect">
            <a:avLst>
              <a:gd name="adj" fmla="val 1356"/>
            </a:avLst>
          </a:prstGeom>
          <a:solidFill>
            <a:srgbClr val="1C1945"/>
          </a:solidFill>
          <a:ln w="15240">
            <a:solidFill>
              <a:srgbClr val="FF6B6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0" y="1051560"/>
            <a:ext cx="5440680" cy="548640"/>
          </a:xfrm>
          <a:prstGeom prst="roundRect">
            <a:avLst>
              <a:gd name="adj" fmla="val 13333"/>
            </a:avLst>
          </a:prstGeom>
          <a:solidFill>
            <a:srgbClr val="FF6B6B">
              <a:alpha val="25000"/>
            </a:srgbClr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0" y="1051560"/>
            <a:ext cx="5440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DFS  Depth-First Search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629400" y="1783080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Duyệt theo chiều sâu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629400" y="2496312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Ngăn xếp (Stack)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629400" y="3209544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KHÔNG đảm bảo tối ưu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629400" y="3922776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Đường đi có thể rất dài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29400" y="4636008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Độ phức tạp: O(V + E)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5705856" y="3474720"/>
            <a:ext cx="777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320040" y="6446520"/>
            <a:ext cx="11521440" cy="301752"/>
          </a:xfrm>
          <a:prstGeom prst="roundRect">
            <a:avLst>
              <a:gd name="adj" fmla="val 15152"/>
            </a:avLst>
          </a:prstGeom>
          <a:solidFill>
            <a:srgbClr val="1C1945"/>
          </a:solidFill>
          <a:ln w="12700">
            <a:solidFill>
              <a:srgbClr val="3637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BFS đảm bảo đường ÍT CẠNH nhất · DFS nhanh hơn trong nhiều trường hợp nhưng không tối ưu trên bản đồ có trọng số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C29"/>
          </a:solidFill>
          <a:ln w="12700">
            <a:solidFill>
              <a:srgbClr val="0F0C2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114800"/>
          </a:xfrm>
          <a:prstGeom prst="rect">
            <a:avLst/>
          </a:prstGeom>
          <a:solidFill>
            <a:srgbClr val="1E1B4B">
              <a:alpha val="70000"/>
            </a:srgbClr>
          </a:solidFill>
          <a:ln w="12700">
            <a:solidFill>
              <a:srgbClr val="1E1B4B">
                <a:alpha val="7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0" y="0"/>
            <a:ext cx="6702552" cy="6858000"/>
          </a:xfrm>
          <a:prstGeom prst="rect">
            <a:avLst/>
          </a:prstGeom>
          <a:solidFill>
            <a:srgbClr val="312E81">
              <a:alpha val="50000"/>
            </a:srgbClr>
          </a:solidFill>
          <a:ln w="12700">
            <a:solidFill>
              <a:srgbClr val="312E81">
                <a:alpha val="5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54864" cy="342900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3429000"/>
            <a:ext cx="54864" cy="34290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274320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04. Thuật Toán — Dijkstra &amp; A*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11430000" cy="27432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051560"/>
            <a:ext cx="5440680" cy="5394960"/>
          </a:xfrm>
          <a:prstGeom prst="roundRect">
            <a:avLst>
              <a:gd name="adj" fmla="val 1356"/>
            </a:avLst>
          </a:prstGeom>
          <a:solidFill>
            <a:srgbClr val="1C1945"/>
          </a:solidFill>
          <a:ln w="15240">
            <a:solidFill>
              <a:srgbClr val="FFD16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0040" y="1051560"/>
            <a:ext cx="5440680" cy="548640"/>
          </a:xfrm>
          <a:prstGeom prst="roundRect">
            <a:avLst>
              <a:gd name="adj" fmla="val 13333"/>
            </a:avLst>
          </a:prstGeom>
          <a:solidFill>
            <a:srgbClr val="FFD166">
              <a:alpha val="25000"/>
            </a:srgbClr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1051560"/>
            <a:ext cx="5440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Dijkstra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48640" y="1783080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Tìm đường NGẮN NHẤT tuyệt đối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48640" y="2496312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Min-heap (priority queue)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48640" y="3209544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Mở rộng nút gần nguồn nhất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48640" y="3922776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Tối ưu trên đồ thị trọng số ≥ 0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48640" y="4636008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Độ phức tạp: O((V+E) log V)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400800" y="1051560"/>
            <a:ext cx="5440680" cy="5394960"/>
          </a:xfrm>
          <a:prstGeom prst="roundRect">
            <a:avLst>
              <a:gd name="adj" fmla="val 1356"/>
            </a:avLst>
          </a:prstGeom>
          <a:solidFill>
            <a:srgbClr val="1C1945"/>
          </a:solidFill>
          <a:ln w="15240">
            <a:solidFill>
              <a:srgbClr val="06D6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0" y="1051560"/>
            <a:ext cx="5440680" cy="548640"/>
          </a:xfrm>
          <a:prstGeom prst="roundRect">
            <a:avLst>
              <a:gd name="adj" fmla="val 13333"/>
            </a:avLst>
          </a:prstGeom>
          <a:solidFill>
            <a:srgbClr val="06D6A0">
              <a:alpha val="25000"/>
            </a:srgbClr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0" y="1051560"/>
            <a:ext cx="5440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A*  (A-Star)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629400" y="1783080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Dijkstra + heuristic dẫn hướng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629400" y="2496312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f(n) = g(n) + h(n)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629400" y="3209544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h(n) = khoảng cách Haversine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629400" y="3922776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Tối ưu VÀ nhanh hơn Dijkstra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29400" y="4636008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Duyệt ít nút hơn đáng kể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5705856" y="3474720"/>
            <a:ext cx="777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320040" y="6446520"/>
            <a:ext cx="11521440" cy="301752"/>
          </a:xfrm>
          <a:prstGeom prst="roundRect">
            <a:avLst>
              <a:gd name="adj" fmla="val 15152"/>
            </a:avLst>
          </a:prstGeom>
          <a:solidFill>
            <a:srgbClr val="1C1945"/>
          </a:solidFill>
          <a:ln w="12700">
            <a:solidFill>
              <a:srgbClr val="3637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h(n) ≤ khoảng cách thực  →  Admissible heuristic  →  A* đảm bảo kết quả tối ưu như Dijkstra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C29"/>
          </a:solidFill>
          <a:ln w="12700">
            <a:solidFill>
              <a:srgbClr val="0F0C2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114800"/>
          </a:xfrm>
          <a:prstGeom prst="rect">
            <a:avLst/>
          </a:prstGeom>
          <a:solidFill>
            <a:srgbClr val="1E1B4B">
              <a:alpha val="70000"/>
            </a:srgbClr>
          </a:solidFill>
          <a:ln w="12700">
            <a:solidFill>
              <a:srgbClr val="1E1B4B">
                <a:alpha val="7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0" y="0"/>
            <a:ext cx="6702552" cy="6858000"/>
          </a:xfrm>
          <a:prstGeom prst="rect">
            <a:avLst/>
          </a:prstGeom>
          <a:solidFill>
            <a:srgbClr val="312E81">
              <a:alpha val="50000"/>
            </a:srgbClr>
          </a:solidFill>
          <a:ln w="12700">
            <a:solidFill>
              <a:srgbClr val="312E81">
                <a:alpha val="5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54864" cy="342900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3429000"/>
            <a:ext cx="54864" cy="34290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274320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05. Giao Diện và Tính Năng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11430000" cy="27432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051560"/>
            <a:ext cx="6309360" cy="987552"/>
          </a:xfrm>
          <a:prstGeom prst="roundRect">
            <a:avLst>
              <a:gd name="adj" fmla="val 7407"/>
            </a:avLst>
          </a:prstGeom>
          <a:solidFill>
            <a:srgbClr val="1C1945"/>
          </a:solidFill>
          <a:ln w="15240">
            <a:solidFill>
              <a:srgbClr val="3637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078992"/>
            <a:ext cx="5943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🖱️ Chọn điểm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02920" y="1463040"/>
            <a:ext cx="5943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bản đồ, tự snap đến nút giao thông gần nhất.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20040" y="2148840"/>
            <a:ext cx="6309360" cy="987552"/>
          </a:xfrm>
          <a:prstGeom prst="roundRect">
            <a:avLst>
              <a:gd name="adj" fmla="val 7407"/>
            </a:avLst>
          </a:prstGeom>
          <a:solidFill>
            <a:srgbClr val="1C1945"/>
          </a:solidFill>
          <a:ln w="15240">
            <a:solidFill>
              <a:srgbClr val="3637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176272"/>
            <a:ext cx="5943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Chạy đồng thời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02920" y="2560320"/>
            <a:ext cx="5943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Bốn thuật toán chạy song song, hoạt ảnh từng bước đồng bộ.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20040" y="3246120"/>
            <a:ext cx="6309360" cy="987552"/>
          </a:xfrm>
          <a:prstGeom prst="roundRect">
            <a:avLst>
              <a:gd name="adj" fmla="val 7407"/>
            </a:avLst>
          </a:prstGeom>
          <a:solidFill>
            <a:srgbClr val="1C1945"/>
          </a:solidFill>
          <a:ln w="15240">
            <a:solidFill>
              <a:srgbClr val="3637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3273552"/>
            <a:ext cx="5943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Điều chỉnh tốc độ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02920" y="3657600"/>
            <a:ext cx="5943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Thanh kéo 50ms–500ms điều chỉnh tốc độ hoạt ảnh theo thời gian thực.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20040" y="4343400"/>
            <a:ext cx="6309360" cy="987552"/>
          </a:xfrm>
          <a:prstGeom prst="roundRect">
            <a:avLst>
              <a:gd name="adj" fmla="val 7407"/>
            </a:avLst>
          </a:prstGeom>
          <a:solidFill>
            <a:srgbClr val="1C1945"/>
          </a:solidFill>
          <a:ln w="15240">
            <a:solidFill>
              <a:srgbClr val="3637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4370832"/>
            <a:ext cx="5943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👁  Toggle ẩn/hiện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02920" y="4754880"/>
            <a:ext cx="5943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thẻ thống kê để ẩn/hiện đường đi từng thuật toán.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20040" y="5440680"/>
            <a:ext cx="6309360" cy="987552"/>
          </a:xfrm>
          <a:prstGeom prst="roundRect">
            <a:avLst>
              <a:gd name="adj" fmla="val 7407"/>
            </a:avLst>
          </a:prstGeom>
          <a:solidFill>
            <a:srgbClr val="1C1945"/>
          </a:solidFill>
          <a:ln w="15240">
            <a:solidFill>
              <a:srgbClr val="36378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5468112"/>
            <a:ext cx="5943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Concentric Rings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02920" y="5852160"/>
            <a:ext cx="5943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BFS 8px · DFS 6px · Dijkstra 4px · A* 2px — thấy cả 4 cùng lúc.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995160" y="1051560"/>
            <a:ext cx="4846320" cy="5486400"/>
          </a:xfrm>
          <a:prstGeom prst="roundRect">
            <a:avLst>
              <a:gd name="adj" fmla="val 1509"/>
            </a:avLst>
          </a:prstGeom>
          <a:solidFill>
            <a:srgbClr val="1C1945"/>
          </a:solidFill>
          <a:ln w="15240">
            <a:solidFill>
              <a:srgbClr val="36378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95160" y="109728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Bảng màu thuật toán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178040" y="1645920"/>
            <a:ext cx="4480560" cy="960120"/>
          </a:xfrm>
          <a:prstGeom prst="roundRect">
            <a:avLst>
              <a:gd name="adj" fmla="val 7619"/>
            </a:avLst>
          </a:prstGeom>
          <a:solidFill>
            <a:srgbClr val="1C1945"/>
          </a:solidFill>
          <a:ln w="15240">
            <a:solidFill>
              <a:srgbClr val="4ECDC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223760" y="1755648"/>
            <a:ext cx="146304" cy="731520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516368" y="1700784"/>
            <a:ext cx="3931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BFS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516368" y="2139696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8px — ngoài cùng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178040" y="2743200"/>
            <a:ext cx="4480560" cy="960120"/>
          </a:xfrm>
          <a:prstGeom prst="roundRect">
            <a:avLst>
              <a:gd name="adj" fmla="val 7619"/>
            </a:avLst>
          </a:prstGeom>
          <a:solidFill>
            <a:srgbClr val="1C1945"/>
          </a:solidFill>
          <a:ln w="15240">
            <a:solidFill>
              <a:srgbClr val="FF6B6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223760" y="2852928"/>
            <a:ext cx="146304" cy="731520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516368" y="2798064"/>
            <a:ext cx="3931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DFS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7516368" y="3236976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6px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7178040" y="3840480"/>
            <a:ext cx="4480560" cy="960120"/>
          </a:xfrm>
          <a:prstGeom prst="roundRect">
            <a:avLst>
              <a:gd name="adj" fmla="val 7619"/>
            </a:avLst>
          </a:prstGeom>
          <a:solidFill>
            <a:srgbClr val="1C1945"/>
          </a:solidFill>
          <a:ln w="15240">
            <a:solidFill>
              <a:srgbClr val="FFD1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223760" y="3950208"/>
            <a:ext cx="146304" cy="73152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516368" y="3895344"/>
            <a:ext cx="3931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Dijkstra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7516368" y="4334256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4px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7178040" y="4937760"/>
            <a:ext cx="4480560" cy="960120"/>
          </a:xfrm>
          <a:prstGeom prst="roundRect">
            <a:avLst>
              <a:gd name="adj" fmla="val 7619"/>
            </a:avLst>
          </a:prstGeom>
          <a:solidFill>
            <a:srgbClr val="1C1945"/>
          </a:solidFill>
          <a:ln w="15240">
            <a:solidFill>
              <a:srgbClr val="06D6A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223760" y="5047488"/>
            <a:ext cx="146304" cy="73152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516368" y="4992624"/>
            <a:ext cx="3931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A*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7516368" y="5431536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2px — trong cùng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C29"/>
          </a:solidFill>
          <a:ln w="12700">
            <a:solidFill>
              <a:srgbClr val="0F0C2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114800"/>
          </a:xfrm>
          <a:prstGeom prst="rect">
            <a:avLst/>
          </a:prstGeom>
          <a:solidFill>
            <a:srgbClr val="1E1B4B">
              <a:alpha val="70000"/>
            </a:srgbClr>
          </a:solidFill>
          <a:ln w="12700">
            <a:solidFill>
              <a:srgbClr val="1E1B4B">
                <a:alpha val="7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0" y="0"/>
            <a:ext cx="6702552" cy="6858000"/>
          </a:xfrm>
          <a:prstGeom prst="rect">
            <a:avLst/>
          </a:prstGeom>
          <a:solidFill>
            <a:srgbClr val="312E81">
              <a:alpha val="50000"/>
            </a:srgbClr>
          </a:solidFill>
          <a:ln w="12700">
            <a:solidFill>
              <a:srgbClr val="312E81">
                <a:alpha val="5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54864" cy="342900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3429000"/>
            <a:ext cx="54864" cy="34290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274320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06. Demo — Giao Diện Thực Tế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11430000" cy="27432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051560"/>
            <a:ext cx="7680960" cy="5486400"/>
          </a:xfrm>
          <a:prstGeom prst="roundRect">
            <a:avLst>
              <a:gd name="adj" fmla="val 1333"/>
            </a:avLst>
          </a:prstGeom>
          <a:solidFill>
            <a:srgbClr val="1C1945"/>
          </a:solidFill>
          <a:ln w="15240">
            <a:solidFill>
              <a:srgbClr val="34D39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1051560"/>
            <a:ext cx="76809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dirty="0">
                <a:solidFill>
                  <a:srgbClr val="000000"/>
                </a:solidFill>
              </a:rPr>
              <a:t>🗺️</a:t>
            </a:r>
            <a:endParaRPr lang="en-US" sz="5600" dirty="0"/>
          </a:p>
        </p:txBody>
      </p:sp>
      <p:sp>
        <p:nvSpPr>
          <p:cNvPr id="11" name="Text 9"/>
          <p:cNvSpPr/>
          <p:nvPr/>
        </p:nvSpPr>
        <p:spPr>
          <a:xfrm>
            <a:off x="320040" y="397764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 bản đồ — hoạt ảnh 4 thuật toán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286000" y="4480560"/>
            <a:ext cx="822960" cy="164592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91840" y="4480560"/>
            <a:ext cx="822960" cy="164592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97680" y="4480560"/>
            <a:ext cx="822960" cy="164592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303520" y="4480560"/>
            <a:ext cx="822960" cy="164592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0" y="1051560"/>
            <a:ext cx="3657600" cy="2560320"/>
          </a:xfrm>
          <a:prstGeom prst="roundRect">
            <a:avLst>
              <a:gd name="adj" fmla="val 2857"/>
            </a:avLst>
          </a:prstGeom>
          <a:solidFill>
            <a:srgbClr val="1C1945"/>
          </a:solidFill>
          <a:ln w="15240">
            <a:solidFill>
              <a:srgbClr val="818C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0" y="105156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📊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8229600" y="24231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Bảng thống kê so sánh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229600" y="3840480"/>
            <a:ext cx="3657600" cy="2697480"/>
          </a:xfrm>
          <a:prstGeom prst="roundRect">
            <a:avLst>
              <a:gd name="adj" fmla="val 2712"/>
            </a:avLst>
          </a:prstGeom>
          <a:solidFill>
            <a:srgbClr val="1C1945"/>
          </a:solidFill>
          <a:ln w="15240">
            <a:solidFill>
              <a:srgbClr val="818CF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0" y="384048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⚙️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8229600" y="52120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panel · điều chỉnh tốc độ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20040" y="6537960"/>
            <a:ext cx="11521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Thay bằng ảnh chụp màn hình thực tế khi in/xuất file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2026-05-07T15:10:41Z</dcterms:created>
  <dcterms:modified xsi:type="dcterms:W3CDTF">2026-05-07T15:10:41Z</dcterms:modified>
</cp:coreProperties>
</file>