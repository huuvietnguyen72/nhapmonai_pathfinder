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1E1B4B">
              <a:alpha val="70000"/>
            </a:srgbClr>
          </a:solidFill>
          <a:ln w="12700">
            <a:solidFill>
              <a:srgbClr val="1E1B4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312E81">
              <a:alpha val="50000"/>
            </a:srgbClr>
          </a:solidFill>
          <a:ln w="12700">
            <a:solidFill>
              <a:srgbClr val="312E81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3429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54864" cy="3429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-1097280"/>
            <a:ext cx="4572000" cy="4572000"/>
          </a:xfrm>
          <a:prstGeom prst="ellipse">
            <a:avLst/>
          </a:prstGeom>
          <a:solidFill>
            <a:srgbClr val="818CF8">
              <a:alpha val="18000"/>
            </a:srgbClr>
          </a:solidFill>
          <a:ln w="12700">
            <a:solidFill>
              <a:srgbClr val="818CF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1C1945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🗺️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3931920" y="1691640"/>
            <a:ext cx="2926080" cy="347472"/>
          </a:xfrm>
          <a:prstGeom prst="roundRect">
            <a:avLst>
              <a:gd name="adj" fmla="val 39474"/>
            </a:avLst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6916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 ·  Nhập Môn TTNT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224028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PathFinder AI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931920" y="324612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Quan Hóa Thuật Toán Tìm Đường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31920" y="373075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Bản Đồ Thực Hà Đông, Hà Nội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931920" y="4251960"/>
            <a:ext cx="7955280" cy="27432"/>
          </a:xfrm>
          <a:prstGeom prst="rect">
            <a:avLst/>
          </a:prstGeom>
          <a:solidFill>
            <a:srgbClr val="363780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4434840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4ECDC4">
              <a:alpha val="18000"/>
            </a:srgbClr>
          </a:solidFill>
          <a:ln w="12700">
            <a:solidFill>
              <a:srgbClr val="4ECDC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44348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23560" y="4434840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FF6B6B">
              <a:alpha val="18000"/>
            </a:srgbClr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44348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0" y="4434840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FFD166">
              <a:alpha val="18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44348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06840" y="4434840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06D6A0">
              <a:alpha val="18000"/>
            </a:srgbClr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6840" y="44348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50749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viện Công nghệ Bưu chính Viễn thông (PTIT)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31920" y="54406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 Nội –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1E1B4B">
              <a:alpha val="70000"/>
            </a:srgbClr>
          </a:solidFill>
          <a:ln w="12700">
            <a:solidFill>
              <a:srgbClr val="1E1B4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312E81">
              <a:alpha val="50000"/>
            </a:srgbClr>
          </a:solidFill>
          <a:ln w="12700">
            <a:solidFill>
              <a:srgbClr val="312E81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3429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54864" cy="3429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11430000" cy="2743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1C1945"/>
          </a:solidFill>
          <a:ln w="15240">
            <a:solidFill>
              <a:srgbClr val="4ECD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1115568"/>
            <a:ext cx="493776" cy="493776"/>
          </a:xfrm>
          <a:prstGeom prst="roundRect">
            <a:avLst>
              <a:gd name="adj" fmla="val 9259"/>
            </a:avLst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11556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15568" y="1051560"/>
            <a:ext cx="45902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đề tài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92240" y="1051560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1C1945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47104" y="1115568"/>
            <a:ext cx="493776" cy="493776"/>
          </a:xfrm>
          <a:prstGeom prst="roundRect">
            <a:avLst>
              <a:gd name="adj" fmla="val 9259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111556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150608" y="1051560"/>
            <a:ext cx="45902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1810512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1C1945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" y="187452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187452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15568" y="1810512"/>
            <a:ext cx="45902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BFS &amp; DFS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92240" y="1810512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1C1945"/>
          </a:solidFill>
          <a:ln w="15240">
            <a:solidFill>
              <a:srgbClr val="06D6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47104" y="187452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187452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150608" y="1810512"/>
            <a:ext cx="45902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Dijkstra &amp; A*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2569464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1C1945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" y="2633472"/>
            <a:ext cx="493776" cy="493776"/>
          </a:xfrm>
          <a:prstGeom prst="roundRect">
            <a:avLst>
              <a:gd name="adj" fmla="val 9259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263347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115568" y="2569464"/>
            <a:ext cx="45902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&amp; Demo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92240" y="2569464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1C1945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47104" y="2633472"/>
            <a:ext cx="493776" cy="493776"/>
          </a:xfrm>
          <a:prstGeom prst="roundRect">
            <a:avLst>
              <a:gd name="adj" fmla="val 9259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47104" y="263347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150608" y="2569464"/>
            <a:ext cx="45902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so sánh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7200" y="3328416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1C1945"/>
          </a:solidFill>
          <a:ln w="15240">
            <a:solidFill>
              <a:srgbClr val="6B7A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2064" y="3392424"/>
            <a:ext cx="493776" cy="493776"/>
          </a:xfrm>
          <a:prstGeom prst="roundRect">
            <a:avLst>
              <a:gd name="adj" fmla="val 9259"/>
            </a:avLst>
          </a:prstGeom>
          <a:solidFill>
            <a:srgbClr val="6B7AB8"/>
          </a:solidFill>
          <a:ln w="12700">
            <a:solidFill>
              <a:srgbClr val="6B7A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339242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115568" y="3328416"/>
            <a:ext cx="45902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&amp; Kết luận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1E1B4B">
              <a:alpha val="70000"/>
            </a:srgbClr>
          </a:solidFill>
          <a:ln w="12700">
            <a:solidFill>
              <a:srgbClr val="1E1B4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312E81">
              <a:alpha val="50000"/>
            </a:srgbClr>
          </a:solidFill>
          <a:ln w="12700">
            <a:solidFill>
              <a:srgbClr val="312E81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3429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54864" cy="3429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Giới Thiệu Đề Tài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11430000" cy="2743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 tìm đường là bài toán nền tảng trong Trí tuệ Nhân tạo. PathFinder AI áp dụng 4 thuật toán trực tiếp lên bản đồ đường bộ thực của Hà Đông — không phải đồ thị lý thuyết.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2743200" cy="4663440"/>
          </a:xfrm>
          <a:prstGeom prst="roundRect">
            <a:avLst>
              <a:gd name="adj" fmla="val 2667"/>
            </a:avLst>
          </a:prstGeom>
          <a:solidFill>
            <a:srgbClr val="1C1945"/>
          </a:solidFill>
          <a:ln w="15240">
            <a:solidFill>
              <a:srgbClr val="3637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🗺️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thực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42900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1 007 nút giao thông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2 644 cạnh đường bộ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 Đông, Hà Nội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46120" y="1874520"/>
            <a:ext cx="2743200" cy="4663440"/>
          </a:xfrm>
          <a:prstGeom prst="roundRect">
            <a:avLst>
              <a:gd name="adj" fmla="val 2667"/>
            </a:avLst>
          </a:prstGeom>
          <a:solidFill>
            <a:srgbClr val="1C1945"/>
          </a:solidFill>
          <a:ln w="15240">
            <a:solidFill>
              <a:srgbClr val="3637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011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⚡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24612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thời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46120" y="342900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song song 4 thuật toán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 ảnh từng bước khám phá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1874520"/>
            <a:ext cx="2743200" cy="4663440"/>
          </a:xfrm>
          <a:prstGeom prst="roundRect">
            <a:avLst>
              <a:gd name="adj" fmla="val 2667"/>
            </a:avLst>
          </a:prstGeom>
          <a:solidFill>
            <a:srgbClr val="1C1945"/>
          </a:solidFill>
          <a:ln w="15240">
            <a:solidFill>
              <a:srgbClr val="3637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011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📊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12648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26480" y="342900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nút duyệt · Độ dài đường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thực thi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06840" y="1874520"/>
            <a:ext cx="2743200" cy="4663440"/>
          </a:xfrm>
          <a:prstGeom prst="roundRect">
            <a:avLst>
              <a:gd name="adj" fmla="val 2667"/>
            </a:avLst>
          </a:prstGeom>
          <a:solidFill>
            <a:srgbClr val="1C1945"/>
          </a:solidFill>
          <a:ln w="15240">
            <a:solidFill>
              <a:srgbClr val="3637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06840" y="2011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🎛️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900684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tác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06840" y="342900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chọn điểm · Điều chỉnh tốc độ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Ẩn/hiện từng thuật toán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1E1B4B">
              <a:alpha val="70000"/>
            </a:srgbClr>
          </a:solidFill>
          <a:ln w="12700">
            <a:solidFill>
              <a:srgbClr val="1E1B4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312E81">
              <a:alpha val="50000"/>
            </a:srgbClr>
          </a:solidFill>
          <a:ln w="12700">
            <a:solidFill>
              <a:srgbClr val="312E81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3429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54864" cy="3429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Kiến Trúc Hệ Thống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11430000" cy="274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51560"/>
            <a:ext cx="3383280" cy="5394960"/>
          </a:xfrm>
          <a:prstGeom prst="roundRect">
            <a:avLst>
              <a:gd name="adj" fmla="val 2162"/>
            </a:avLst>
          </a:prstGeom>
          <a:solidFill>
            <a:srgbClr val="1C1945"/>
          </a:solidFill>
          <a:ln w="1524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515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49631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1.9.4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300984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105656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UI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910328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 ảnh đồng bộ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94760" y="3383280"/>
            <a:ext cx="914400" cy="457200"/>
          </a:xfrm>
          <a:prstGeom prst="rightArrow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3886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94760" y="2834640"/>
            <a:ext cx="914400" cy="457200"/>
          </a:xfrm>
          <a:prstGeom prst="leftArrow">
            <a:avLst/>
          </a:prstGeom>
          <a:solidFill>
            <a:srgbClr val="6B7AB8"/>
          </a:solidFill>
          <a:ln w="12700">
            <a:solidFill>
              <a:srgbClr val="6B7A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2514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051560"/>
            <a:ext cx="3383280" cy="5394960"/>
          </a:xfrm>
          <a:prstGeom prst="roundRect">
            <a:avLst>
              <a:gd name="adj" fmla="val 2162"/>
            </a:avLst>
          </a:prstGeom>
          <a:solidFill>
            <a:srgbClr val="1C1945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515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0" y="169164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249631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3300984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4105656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/ DFS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4910328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/ A*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366760" y="3566160"/>
            <a:ext cx="640080" cy="411480"/>
          </a:xfrm>
          <a:prstGeom prst="rightArrow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98280" y="1051560"/>
            <a:ext cx="2788920" cy="5394960"/>
          </a:xfrm>
          <a:prstGeom prst="roundRect">
            <a:avLst>
              <a:gd name="adj" fmla="val 2623"/>
            </a:avLst>
          </a:prstGeom>
          <a:solidFill>
            <a:srgbClr val="1C1945"/>
          </a:solidFill>
          <a:ln w="1524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98280" y="10515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098280" y="169164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nodes.json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098280" y="2496312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1 007 nút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98280" y="3300984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edges.json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98280" y="4105656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2 644 cạnh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098280" y="4910328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osmnx export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1E1B4B">
              <a:alpha val="70000"/>
            </a:srgbClr>
          </a:solidFill>
          <a:ln w="12700">
            <a:solidFill>
              <a:srgbClr val="1E1B4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312E81">
              <a:alpha val="50000"/>
            </a:srgbClr>
          </a:solidFill>
          <a:ln w="12700">
            <a:solidFill>
              <a:srgbClr val="312E81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3429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54864" cy="3429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Thuật Toán — BFS &amp; DFS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11430000" cy="2743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5440680" cy="5394960"/>
          </a:xfrm>
          <a:prstGeom prst="roundRect">
            <a:avLst>
              <a:gd name="adj" fmla="val 1356"/>
            </a:avLst>
          </a:prstGeom>
          <a:solidFill>
            <a:srgbClr val="1C1945"/>
          </a:solidFill>
          <a:ln w="15240">
            <a:solidFill>
              <a:srgbClr val="4ECD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51560"/>
            <a:ext cx="5440680" cy="548640"/>
          </a:xfrm>
          <a:prstGeom prst="roundRect">
            <a:avLst>
              <a:gd name="adj" fmla="val 13333"/>
            </a:avLst>
          </a:prstGeom>
          <a:solidFill>
            <a:srgbClr val="4ECDC4">
              <a:alpha val="25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5156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 Breadth-First Search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178308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Duyệt theo chiều rộng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2496312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Hàng đợi (Queue)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209544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Tìm đường ÍT BƯỚC nhất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922776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Không tối ưu khoảng cách thực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63600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Độ phức tạp: O(V + E)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0" y="1051560"/>
            <a:ext cx="5440680" cy="5394960"/>
          </a:xfrm>
          <a:prstGeom prst="roundRect">
            <a:avLst>
              <a:gd name="adj" fmla="val 1356"/>
            </a:avLst>
          </a:prstGeom>
          <a:solidFill>
            <a:srgbClr val="1C1945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051560"/>
            <a:ext cx="5440680" cy="548640"/>
          </a:xfrm>
          <a:prstGeom prst="roundRect">
            <a:avLst>
              <a:gd name="adj" fmla="val 13333"/>
            </a:avLst>
          </a:prstGeom>
          <a:solidFill>
            <a:srgbClr val="FF6B6B">
              <a:alpha val="2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05156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 Depth-First Search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29400" y="178308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Duyệt theo chiều sâu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2496312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Ngăn xếp (Stack)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29400" y="3209544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KHÔNG đảm bảo tối ưu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3922776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Đường đi có thể rất dài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29400" y="463600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Độ phức tạp: O(V + E)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705856" y="347472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320040" y="6446520"/>
            <a:ext cx="11521440" cy="301752"/>
          </a:xfrm>
          <a:prstGeom prst="roundRect">
            <a:avLst>
              <a:gd name="adj" fmla="val 15152"/>
            </a:avLst>
          </a:prstGeom>
          <a:solidFill>
            <a:srgbClr val="1C1945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đảm bảo đường ÍT CẠNH nhất · DFS nhanh hơn trong nhiều trường hợp nhưng không tối ưu trên bản đồ có trọng số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1E1B4B">
              <a:alpha val="70000"/>
            </a:srgbClr>
          </a:solidFill>
          <a:ln w="12700">
            <a:solidFill>
              <a:srgbClr val="1E1B4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312E81">
              <a:alpha val="50000"/>
            </a:srgbClr>
          </a:solidFill>
          <a:ln w="12700">
            <a:solidFill>
              <a:srgbClr val="312E81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3429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54864" cy="3429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Thuật Toán — Dijkstra &amp; A*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11430000" cy="274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5440680" cy="5394960"/>
          </a:xfrm>
          <a:prstGeom prst="roundRect">
            <a:avLst>
              <a:gd name="adj" fmla="val 1356"/>
            </a:avLst>
          </a:prstGeom>
          <a:solidFill>
            <a:srgbClr val="1C1945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51560"/>
            <a:ext cx="5440680" cy="548640"/>
          </a:xfrm>
          <a:prstGeom prst="roundRect">
            <a:avLst>
              <a:gd name="adj" fmla="val 13333"/>
            </a:avLst>
          </a:prstGeom>
          <a:solidFill>
            <a:srgbClr val="FFD166">
              <a:alpha val="2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5156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178308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Tìm đường NGẮN NHẤT tuyệt đối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2496312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Min-heap (priority queue)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209544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Mở rộng nút gần nguồn nhất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922776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Tối ưu trên đồ thị trọng số ≥ 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63600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Độ phức tạp: O((V+E) log V)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0" y="1051560"/>
            <a:ext cx="5440680" cy="5394960"/>
          </a:xfrm>
          <a:prstGeom prst="roundRect">
            <a:avLst>
              <a:gd name="adj" fmla="val 1356"/>
            </a:avLst>
          </a:prstGeom>
          <a:solidFill>
            <a:srgbClr val="1C1945"/>
          </a:solidFill>
          <a:ln w="15240">
            <a:solidFill>
              <a:srgbClr val="06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051560"/>
            <a:ext cx="5440680" cy="548640"/>
          </a:xfrm>
          <a:prstGeom prst="roundRect">
            <a:avLst>
              <a:gd name="adj" fmla="val 13333"/>
            </a:avLst>
          </a:prstGeom>
          <a:solidFill>
            <a:srgbClr val="06D6A0">
              <a:alpha val="2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05156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 (A-Star)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29400" y="178308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Dijkstra + heuristic dẫn hướng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2496312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f(n) = g(n) + h(n)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29400" y="3209544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h(n) = khoảng cách Haversine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3922776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Tối ưu VÀ nhanh hơn Dijkstra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29400" y="463600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Duyệt ít nút hơn đáng kể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705856" y="347472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320040" y="6446520"/>
            <a:ext cx="11521440" cy="301752"/>
          </a:xfrm>
          <a:prstGeom prst="roundRect">
            <a:avLst>
              <a:gd name="adj" fmla="val 15152"/>
            </a:avLst>
          </a:prstGeom>
          <a:solidFill>
            <a:srgbClr val="1C1945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≤ khoảng cách thực  →  Admissible heuristic  →  A* đảm bảo kết quả tối ưu như Dijkstra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1E1B4B">
              <a:alpha val="70000"/>
            </a:srgbClr>
          </a:solidFill>
          <a:ln w="12700">
            <a:solidFill>
              <a:srgbClr val="1E1B4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312E81">
              <a:alpha val="50000"/>
            </a:srgbClr>
          </a:solidFill>
          <a:ln w="12700">
            <a:solidFill>
              <a:srgbClr val="312E81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3429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54864" cy="3429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Giao Diện và Tính Năng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11430000" cy="2743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6309360" cy="987552"/>
          </a:xfrm>
          <a:prstGeom prst="roundRect">
            <a:avLst>
              <a:gd name="adj" fmla="val 7407"/>
            </a:avLst>
          </a:prstGeom>
          <a:solidFill>
            <a:srgbClr val="1C1945"/>
          </a:solidFill>
          <a:ln w="15240">
            <a:solidFill>
              <a:srgbClr val="3637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78992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Chọn điểm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bản đồ, tự snap đến nút giao thông gần nhất.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148840"/>
            <a:ext cx="6309360" cy="987552"/>
          </a:xfrm>
          <a:prstGeom prst="roundRect">
            <a:avLst>
              <a:gd name="adj" fmla="val 7407"/>
            </a:avLst>
          </a:prstGeom>
          <a:solidFill>
            <a:srgbClr val="1C1945"/>
          </a:solidFill>
          <a:ln w="15240">
            <a:solidFill>
              <a:srgbClr val="3637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76272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Chạy đồng thời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25603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 thuật toán chạy song song, hoạt ảnh từng bước đồng bộ.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246120"/>
            <a:ext cx="6309360" cy="987552"/>
          </a:xfrm>
          <a:prstGeom prst="roundRect">
            <a:avLst>
              <a:gd name="adj" fmla="val 7407"/>
            </a:avLst>
          </a:prstGeom>
          <a:solidFill>
            <a:srgbClr val="1C1945"/>
          </a:solidFill>
          <a:ln w="15240">
            <a:solidFill>
              <a:srgbClr val="3637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73552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Điều chỉnh tốc độ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36576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kéo 50ms–500ms điều chỉnh tốc độ hoạt ảnh theo thời gian thực.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4343400"/>
            <a:ext cx="6309360" cy="987552"/>
          </a:xfrm>
          <a:prstGeom prst="roundRect">
            <a:avLst>
              <a:gd name="adj" fmla="val 7407"/>
            </a:avLst>
          </a:prstGeom>
          <a:solidFill>
            <a:srgbClr val="1C1945"/>
          </a:solidFill>
          <a:ln w="15240">
            <a:solidFill>
              <a:srgbClr val="3637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370832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Toggle ẩn/hiện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thẻ thống kê để ẩn/hiện đường đi từng thuật toán.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5440680"/>
            <a:ext cx="6309360" cy="987552"/>
          </a:xfrm>
          <a:prstGeom prst="roundRect">
            <a:avLst>
              <a:gd name="adj" fmla="val 7407"/>
            </a:avLst>
          </a:prstGeom>
          <a:solidFill>
            <a:srgbClr val="1C1945"/>
          </a:solidFill>
          <a:ln w="15240">
            <a:solidFill>
              <a:srgbClr val="3637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5468112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Concentric Rings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58521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8px · DFS 6px · Dijkstra 4px · A* 2px — thấy cả 4 cùng lúc.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95160" y="1051560"/>
            <a:ext cx="4846320" cy="5486400"/>
          </a:xfrm>
          <a:prstGeom prst="roundRect">
            <a:avLst>
              <a:gd name="adj" fmla="val 1509"/>
            </a:avLst>
          </a:prstGeom>
          <a:solidFill>
            <a:srgbClr val="1C1945"/>
          </a:solidFill>
          <a:ln w="15240">
            <a:solidFill>
              <a:srgbClr val="3637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10972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màu thuật toán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78040" y="164592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1C1945"/>
          </a:solidFill>
          <a:ln w="15240">
            <a:solidFill>
              <a:srgbClr val="4ECD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1755648"/>
            <a:ext cx="146304" cy="73152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16368" y="170078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516368" y="21396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8px — ngoài cùng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178040" y="274320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1C1945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23760" y="2852928"/>
            <a:ext cx="146304" cy="7315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16368" y="279806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516368" y="32369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6px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178040" y="384048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1C1945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0" y="3950208"/>
            <a:ext cx="146304" cy="7315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16368" y="389534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516368" y="433425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4px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178040" y="493776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1C1945"/>
          </a:solidFill>
          <a:ln w="15240">
            <a:solidFill>
              <a:srgbClr val="06D6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23760" y="5047488"/>
            <a:ext cx="146304" cy="7315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16368" y="499262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516368" y="54315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2px — trong cùng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1E1B4B">
              <a:alpha val="70000"/>
            </a:srgbClr>
          </a:solidFill>
          <a:ln w="12700">
            <a:solidFill>
              <a:srgbClr val="1E1B4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312E81">
              <a:alpha val="50000"/>
            </a:srgbClr>
          </a:solidFill>
          <a:ln w="12700">
            <a:solidFill>
              <a:srgbClr val="312E81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3429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54864" cy="3429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Demo — Giao Diện Thực Tế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11430000" cy="274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7680960" cy="5486400"/>
          </a:xfrm>
          <a:prstGeom prst="roundRect">
            <a:avLst>
              <a:gd name="adj" fmla="val 1333"/>
            </a:avLst>
          </a:prstGeom>
          <a:solidFill>
            <a:srgbClr val="1C1945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515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🗺️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320040" y="3977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bản đồ — hoạt ảnh 4 thuật toán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4480560"/>
            <a:ext cx="822960" cy="16459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4480560"/>
            <a:ext cx="822960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4480560"/>
            <a:ext cx="822960" cy="1645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4480560"/>
            <a:ext cx="822960" cy="1645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05156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1C1945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0515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22960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thống kê so sánh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3840480"/>
            <a:ext cx="3657600" cy="2697480"/>
          </a:xfrm>
          <a:prstGeom prst="roundRect">
            <a:avLst>
              <a:gd name="adj" fmla="val 2712"/>
            </a:avLst>
          </a:prstGeom>
          <a:solidFill>
            <a:srgbClr val="1C1945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8404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⚙️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229600" y="5212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panel · điều chỉnh tốc độ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Thay bằng ảnh chụp màn hình thực tế khi in/xuất file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1E1B4B">
              <a:alpha val="70000"/>
            </a:srgbClr>
          </a:solidFill>
          <a:ln w="12700">
            <a:solidFill>
              <a:srgbClr val="1E1B4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312E81">
              <a:alpha val="50000"/>
            </a:srgbClr>
          </a:solidFill>
          <a:ln w="12700">
            <a:solidFill>
              <a:srgbClr val="312E81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3429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54864" cy="3429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Kết Quả So Sánh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11430000" cy="274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01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PTIT → Vincom Hà Đông (~3km) — kết quả điển hình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371600"/>
            <a:ext cx="201168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31720" y="1371600"/>
            <a:ext cx="164592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371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duyệt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0" y="1371600"/>
            <a:ext cx="173736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1371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dài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15000" y="1371600"/>
            <a:ext cx="173736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1371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2011680"/>
            <a:ext cx="201168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11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BFS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331720" y="2011680"/>
            <a:ext cx="164592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20116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977640" y="2011680"/>
            <a:ext cx="173736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20116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~2 400m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715000" y="2011680"/>
            <a:ext cx="173736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20116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~18ms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" y="2651760"/>
            <a:ext cx="2011680" cy="640080"/>
          </a:xfrm>
          <a:prstGeom prst="rect">
            <a:avLst/>
          </a:prstGeom>
          <a:solidFill>
            <a:srgbClr val="1C1945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651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DFS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331720" y="2651760"/>
            <a:ext cx="1645920" cy="640080"/>
          </a:xfrm>
          <a:prstGeom prst="rect">
            <a:avLst/>
          </a:prstGeom>
          <a:solidFill>
            <a:srgbClr val="1C1945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31720" y="2651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~320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977640" y="2651760"/>
            <a:ext cx="1737360" cy="640080"/>
          </a:xfrm>
          <a:prstGeom prst="rect">
            <a:avLst/>
          </a:prstGeom>
          <a:solidFill>
            <a:srgbClr val="1C1945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77640" y="26517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~4 100m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715000" y="2651760"/>
            <a:ext cx="1737360" cy="640080"/>
          </a:xfrm>
          <a:prstGeom prst="rect">
            <a:avLst/>
          </a:prstGeom>
          <a:solidFill>
            <a:srgbClr val="1C1945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26517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~22ms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20040" y="3291840"/>
            <a:ext cx="201168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291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Dijkstra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331720" y="3291840"/>
            <a:ext cx="164592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31720" y="32918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977640" y="3291840"/>
            <a:ext cx="173736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77640" y="3291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~2 100m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715000" y="3291840"/>
            <a:ext cx="173736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0" y="3291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~14ms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20040" y="3931920"/>
            <a:ext cx="2011680" cy="640080"/>
          </a:xfrm>
          <a:prstGeom prst="rect">
            <a:avLst/>
          </a:prstGeom>
          <a:solidFill>
            <a:srgbClr val="1C1945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931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A*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331720" y="3931920"/>
            <a:ext cx="1645920" cy="640080"/>
          </a:xfrm>
          <a:prstGeom prst="rect">
            <a:avLst/>
          </a:prstGeom>
          <a:solidFill>
            <a:srgbClr val="1C1945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31720" y="3931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977640" y="3931920"/>
            <a:ext cx="1737360" cy="640080"/>
          </a:xfrm>
          <a:prstGeom prst="rect">
            <a:avLst/>
          </a:prstGeom>
          <a:solidFill>
            <a:srgbClr val="1C1945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77640" y="3931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~2 100m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715000" y="3931920"/>
            <a:ext cx="1737360" cy="640080"/>
          </a:xfrm>
          <a:prstGeom prst="rect">
            <a:avLst/>
          </a:prstGeom>
          <a:solidFill>
            <a:srgbClr val="1C1945"/>
          </a:solidFill>
          <a:ln w="12700">
            <a:solidFill>
              <a:srgbClr val="3637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15000" y="3931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~8ms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315200" y="1371600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1C1945"/>
          </a:solidFill>
          <a:ln w="15240">
            <a:solidFill>
              <a:srgbClr val="06D6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52360" y="14630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A* — Hiệu quả nhất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452360" y="187452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ít nút nhất (~95) nhờ heuristic. Nhanh gấp ~1.75× Dijkstra, cùng độ dài tối ưu.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7315200" y="2743200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1C1945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52360" y="28346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Dijkstra — Tối ưu đảm bảo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452360" y="324612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ngắn nhất tuyệt đối. Chậm hơn A* vì không có định hướng.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315200" y="4114800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1C1945"/>
          </a:solidFill>
          <a:ln w="15240">
            <a:solidFill>
              <a:srgbClr val="4ECDC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52360" y="42062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BFS — Ít bước nhất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452360" y="461772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đường ít cạnh nhất, không tính trọng số. Dài hơn ~14% so với Dijkstra.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7315200" y="5486400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1C1945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52360" y="55778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DFS — Kém nhất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452360" y="598932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nhiều nút nhất, đường dài nhất (~4 100m). Không phù hợp tìm đường tối ưu.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1E1B4B">
              <a:alpha val="70000"/>
            </a:srgbClr>
          </a:solidFill>
          <a:ln w="12700">
            <a:solidFill>
              <a:srgbClr val="1E1B4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312E81">
              <a:alpha val="50000"/>
            </a:srgbClr>
          </a:solidFill>
          <a:ln w="12700">
            <a:solidFill>
              <a:srgbClr val="312E81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3429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54864" cy="3429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Kiểm Thử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11430000" cy="27432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1C1945"/>
          </a:solidFill>
          <a:ln w="1524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43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0040" y="2194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1C1945"/>
          </a:solidFill>
          <a:ln w="1524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143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00400" y="2194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0760" y="10515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1C1945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143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5s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080760" y="2194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chạy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61120" y="10515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1C1945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1143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961120" y="2194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" y="32004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 kiểm thử: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5623560" cy="731520"/>
          </a:xfrm>
          <a:prstGeom prst="roundRect">
            <a:avLst>
              <a:gd name="adj" fmla="val 10000"/>
            </a:avLst>
          </a:prstGeom>
          <a:solidFill>
            <a:srgbClr val="1C1945"/>
          </a:solidFill>
          <a:ln w="15240">
            <a:solidFill>
              <a:srgbClr val="3637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033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Graph module: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23160" y="37033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Nạp đúng 1 007 nút, 2 644 cạnh từ JSON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3703320"/>
            <a:ext cx="5623560" cy="731520"/>
          </a:xfrm>
          <a:prstGeom prst="roundRect">
            <a:avLst>
              <a:gd name="adj" fmla="val 10000"/>
            </a:avLst>
          </a:prstGeom>
          <a:solidFill>
            <a:srgbClr val="1C1945"/>
          </a:solidFill>
          <a:ln w="15240">
            <a:solidFill>
              <a:srgbClr val="3637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7033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BFS / DFS: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75320" y="37033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về explored list và path hợp lệ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526280"/>
            <a:ext cx="5623560" cy="731520"/>
          </a:xfrm>
          <a:prstGeom prst="roundRect">
            <a:avLst>
              <a:gd name="adj" fmla="val 10000"/>
            </a:avLst>
          </a:prstGeom>
          <a:solidFill>
            <a:srgbClr val="1C1945"/>
          </a:solidFill>
          <a:ln w="15240">
            <a:solidFill>
              <a:srgbClr val="3637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526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Dijkstra / A*: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423160" y="45262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cách tối ưu, length_m chính xác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4526280"/>
            <a:ext cx="5623560" cy="731520"/>
          </a:xfrm>
          <a:prstGeom prst="roundRect">
            <a:avLst>
              <a:gd name="adj" fmla="val 10000"/>
            </a:avLst>
          </a:prstGeom>
          <a:solidFill>
            <a:srgbClr val="1C1945"/>
          </a:solidFill>
          <a:ln w="15240">
            <a:solidFill>
              <a:srgbClr val="3637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526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API /nodes: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75320" y="45262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định dạng, đủ số lượng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5349240"/>
            <a:ext cx="5623560" cy="731520"/>
          </a:xfrm>
          <a:prstGeom prst="roundRect">
            <a:avLst>
              <a:gd name="adj" fmla="val 10000"/>
            </a:avLst>
          </a:prstGeom>
          <a:solidFill>
            <a:srgbClr val="1C1945"/>
          </a:solidFill>
          <a:ln w="15240">
            <a:solidFill>
              <a:srgbClr val="3637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49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API /pathfind: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423160" y="53492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4 thuật toán, xử lý input sai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72200" y="5349240"/>
            <a:ext cx="5623560" cy="731520"/>
          </a:xfrm>
          <a:prstGeom prst="roundRect">
            <a:avLst>
              <a:gd name="adj" fmla="val 10000"/>
            </a:avLst>
          </a:prstGeom>
          <a:solidFill>
            <a:srgbClr val="1C1945"/>
          </a:solidFill>
          <a:ln w="15240">
            <a:solidFill>
              <a:srgbClr val="3637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5349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Edge cases: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75320" y="53492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start==end, không có đường, node không tồn tại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2026-05-07T15:12:11Z</dcterms:created>
  <dcterms:modified xsi:type="dcterms:W3CDTF">2026-05-07T15:12:11Z</dcterms:modified>
</cp:coreProperties>
</file>